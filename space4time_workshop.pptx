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23"/>
  </p:notesMasterIdLst>
  <p:sldIdLst>
    <p:sldId id="272" r:id="rId3"/>
    <p:sldId id="264" r:id="rId4"/>
    <p:sldId id="256" r:id="rId5"/>
    <p:sldId id="258" r:id="rId6"/>
    <p:sldId id="262" r:id="rId7"/>
    <p:sldId id="332" r:id="rId8"/>
    <p:sldId id="277" r:id="rId9"/>
    <p:sldId id="314" r:id="rId10"/>
    <p:sldId id="323" r:id="rId11"/>
    <p:sldId id="320" r:id="rId12"/>
    <p:sldId id="281" r:id="rId13"/>
    <p:sldId id="331" r:id="rId14"/>
    <p:sldId id="339" r:id="rId15"/>
    <p:sldId id="333" r:id="rId16"/>
    <p:sldId id="335" r:id="rId17"/>
    <p:sldId id="336" r:id="rId18"/>
    <p:sldId id="337" r:id="rId19"/>
    <p:sldId id="334" r:id="rId20"/>
    <p:sldId id="340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608" autoAdjust="0"/>
  </p:normalViewPr>
  <p:slideViewPr>
    <p:cSldViewPr snapToGrid="0">
      <p:cViewPr varScale="1">
        <p:scale>
          <a:sx n="81" d="100"/>
          <a:sy n="81" d="100"/>
        </p:scale>
        <p:origin x="17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7CFB5-76B5-4051-AFBE-8149A70234D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0BFC20-99C7-4852-A1AD-B025104DF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4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Cormack-Jolly-Seber models are mark-recapture models. They involve two processes, a state and an observation process. Individuals are uniquely identified and are captured and recaptured over time.</a:t>
                </a:r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In the state process, individuals can survive from one time period to the next (with probability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). Once they die, they remain dead.</a:t>
                </a:r>
              </a:p>
              <a:p>
                <a:endParaRPr lang="en-US" dirty="0"/>
              </a:p>
              <a:p>
                <a:r>
                  <a:rPr lang="en-US" dirty="0"/>
                  <a:t>In the observation process, if individuals are alive they can be observed or recaptured (with probability </a:t>
                </a:r>
                <a:r>
                  <a:rPr lang="en-US" i="1" dirty="0"/>
                  <a:t>p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Assumptions of CJS models are:</a:t>
                </a:r>
              </a:p>
              <a:p>
                <a:endParaRPr lang="en-US" dirty="0"/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Tags are not lost or misread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Capture and recaptures are random with respect to the population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Individuals with the same cohort (i.e. time at first capture, age, </a:t>
                </a:r>
                <a:r>
                  <a:rPr lang="en-US" dirty="0" err="1"/>
                  <a:t>etc</a:t>
                </a:r>
                <a:r>
                  <a:rPr lang="en-US" dirty="0"/>
                  <a:t>) have the same detection and survival probabilities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The survival or detection of individuals is independent from other individuals</a:t>
                </a:r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Cormack-Jolly-Seber models are mark-recapture models. They involve two processes, a state and an observation process. Individuals are uniquely identified and are captured and recaptured over time.</a:t>
                </a:r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In the state process, individuals can survive from one time period to the next (with probability </a:t>
                </a:r>
                <a:r>
                  <a:rPr lang="en-US" sz="1200" i="0">
                    <a:solidFill>
                      <a:schemeClr val="bg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𝜙</a:t>
                </a:r>
                <a:r>
                  <a:rPr lang="en-US" dirty="0"/>
                  <a:t>). Once they die, they remain dead.</a:t>
                </a:r>
              </a:p>
              <a:p>
                <a:endParaRPr lang="en-US" dirty="0"/>
              </a:p>
              <a:p>
                <a:r>
                  <a:rPr lang="en-US" dirty="0"/>
                  <a:t>In the observation process, if individuals are alive they can be observed or recaptured (with probability </a:t>
                </a:r>
                <a:r>
                  <a:rPr lang="en-US" i="1" dirty="0"/>
                  <a:t>p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Assumptions of CJS models are:</a:t>
                </a:r>
              </a:p>
              <a:p>
                <a:endParaRPr lang="en-US" dirty="0"/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Tags are not lost or misread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Capture and recaptures are random with respect to the population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Individuals with the same cohort (i.e. time at first capture, age, </a:t>
                </a:r>
                <a:r>
                  <a:rPr lang="en-US" dirty="0" err="1"/>
                  <a:t>etc</a:t>
                </a:r>
                <a:r>
                  <a:rPr lang="en-US" dirty="0"/>
                  <a:t>) have the same detection and survival probabilities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The survival or detection of individuals is independent from other individuals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BFC20-99C7-4852-A1AD-B025104DF9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53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space-for-time models, time is replaced with site. So instead of survival from one time period to the next, it is survival from one site to the next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BFC20-99C7-4852-A1AD-B025104DF9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15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83E34C-F760-4D86-8E1F-1AAA1E1A80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294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83E34C-F760-4D86-8E1F-1AAA1E1A80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5253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4822E-1B88-36E4-92BF-DDCBE1B58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EC77C-29EE-52CD-24B8-D32D2B981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98C24-FB48-3C86-69DB-F69EDD09B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 for time CJS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3E196-10A8-C468-702A-0EBC0EC49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83E34C-F760-4D86-8E1F-1AAA1E1A80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267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999AB-6BEB-1A5C-C2BD-88D1F08A5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17E25-B100-051E-E055-48A7311D3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DB098-93F0-2718-115F-1313EC685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DB55E-F072-7339-EC6E-D79F3B59F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83E34C-F760-4D86-8E1F-1AAA1E1A80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775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883E2-C4CE-FC55-921B-937FE1290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D6B79-0B10-FA51-4369-F73E2FEE0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8C390-00B1-0753-6014-7FB23ABEE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Cohort apparent survival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50FB8-5076-9A39-28B0-9D123CA90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83E34C-F760-4D86-8E1F-1AAA1E1A80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99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83E34C-F760-4D86-8E1F-1AAA1E1A80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3863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capture histories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BFC20-99C7-4852-A1AD-B025104DF95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23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capture histories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BFC20-99C7-4852-A1AD-B025104DF95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11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capture histories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BFC20-99C7-4852-A1AD-B025104DF95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85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the site </a:t>
            </a:r>
            <a:r>
              <a:rPr lang="en-US"/>
              <a:t>configuration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BFC20-99C7-4852-A1AD-B025104DF95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69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possible transitions for an individual released in time period 1. The associated probabilities are Theta, which are a function of theta parameters (next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BFC20-99C7-4852-A1AD-B025104DF95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7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possible transitions for an individual released in time period 1. The associated probabilities are Theta (previous slide), which are a function of theta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BFC20-99C7-4852-A1AD-B025104DF95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8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766D1-7BEF-6487-6566-FD03D2BEC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7CB99-9038-F596-198E-789681996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D59B1-A6E3-2136-764A-8B33F4281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D500-F6FE-4DB6-A9D3-FD497EB1BE0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1395F-F1E4-DF7C-634C-D65AA122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35B6F-DAF0-3866-94D3-5AC18BC3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4282-D6DE-484D-928F-E03A65944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3335-F469-37E3-04EB-42E59137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78344-054F-80A1-ABCF-92CE3662C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E594B-616B-81D8-220B-0ADBBED4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D500-F6FE-4DB6-A9D3-FD497EB1BE0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D1CF8-602B-DEF7-99C9-12A804608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F93C3-ACD7-CE81-9D1A-381BC31B7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4282-D6DE-484D-928F-E03A65944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298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41DD2-2F94-1B20-69D9-C892D372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A4D9C-5AD5-2861-E2D3-02C5987C8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DD80A-5A1F-B788-58E2-276C960A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D500-F6FE-4DB6-A9D3-FD497EB1BE0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AE071-D9A2-5211-EE14-653D7E47A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80F5B-8E9B-74AE-4DB8-E8637D65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4282-D6DE-484D-928F-E03A65944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4A7C3-1423-BAB7-39C4-DE5105775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EFD66-E21E-56EA-F667-726E41178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6FCF0-0665-7193-7A66-A9148F4A6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3EE48-9D27-6449-9D0E-41B62C0A1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D500-F6FE-4DB6-A9D3-FD497EB1BE0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E13A8-B02E-E5C3-204C-C83D6BD1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A0545-2970-C641-6BE0-BB699DF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4282-D6DE-484D-928F-E03A65944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72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F7C7-712E-C7CC-C41D-CA87C674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FF7F3-CAAC-EADB-AD29-E91A846B0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AC8F1-A8F9-D77E-D531-4C6254B3B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44618-3E9C-B5A6-1454-25546FF38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F2246A-6127-C46A-43A1-5A7BCCC33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AF308-E736-36D3-52A5-4ABC7D22B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D500-F6FE-4DB6-A9D3-FD497EB1BE0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A0B3C-DE26-E18B-82E6-3B5DB309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D11749-8C9C-2609-DC2E-5BD915271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4282-D6DE-484D-928F-E03A65944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2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7B319-814F-9069-3445-5769E46D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9EA85-1306-8975-294A-A2BCEF61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D500-F6FE-4DB6-A9D3-FD497EB1BE0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DE0A2-CC54-D71D-495D-C3E920E18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F7AB5-D790-8072-67DE-038734B66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4282-D6DE-484D-928F-E03A65944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48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761664-A4FD-FC3C-0A68-2E9E80450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D500-F6FE-4DB6-A9D3-FD497EB1BE0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E8530-34B8-4CB0-42C2-4BBD6BE0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1F0B6-0AD7-38EB-7868-52E74CCF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4282-D6DE-484D-928F-E03A65944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1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7466-745F-5C60-6635-8E879BE2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DFE4B-91A8-78BB-546E-BA7BE4FCF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B2377-A537-1398-74BD-91512969E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619D8-A954-E1CA-2B5D-296404E0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D500-F6FE-4DB6-A9D3-FD497EB1BE0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ECDF2-06C5-9142-BE11-D172BB32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0B170-B46D-18A0-BE3E-BD76AC0B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4282-D6DE-484D-928F-E03A65944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1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32BA-E540-9A9E-FDD5-1A80B2C28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39A459-54E8-024B-D6AD-96C2C37426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0E7EA-10AB-20FE-371C-60E9DAAC7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573DD-2ED7-57EF-8B74-355A57CDF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D500-F6FE-4DB6-A9D3-FD497EB1BE0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7E3C9-552F-2089-A3E7-83AC14222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E4FE8-892C-8348-7891-0E84E579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4282-D6DE-484D-928F-E03A65944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3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F072-B1CD-54F6-CE82-7BCA8C09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C6D2D-AF18-A178-1E67-498BDA091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AFD78-3986-F783-5FDF-CE68AFECD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D500-F6FE-4DB6-A9D3-FD497EB1BE0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391AB-AD03-7A87-97BA-223093488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9DCF6-1749-98A4-87C8-3B855EFD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4282-D6DE-484D-928F-E03A65944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3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5E0DC-4254-51E5-D91F-FDAA8B0FA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7DAA4-D289-8A9A-E00C-D6A065FDC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C9B0D-88BD-D52A-3B0E-6E5FFA64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D500-F6FE-4DB6-A9D3-FD497EB1BE0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88EA1-9C2F-7A31-FD53-B2715AB95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48E3A-E566-16DA-599E-DF3233D1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4282-D6DE-484D-928F-E03A65944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79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3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500"/>
            </a:lvl1pPr>
            <a:lvl2pPr marL="285773" indent="0" algn="ctr">
              <a:buNone/>
              <a:defRPr sz="1250"/>
            </a:lvl2pPr>
            <a:lvl3pPr marL="571547" indent="0" algn="ctr">
              <a:buNone/>
              <a:defRPr sz="1125"/>
            </a:lvl3pPr>
            <a:lvl4pPr marL="857320" indent="0" algn="ctr">
              <a:buNone/>
              <a:defRPr sz="1000"/>
            </a:lvl4pPr>
            <a:lvl5pPr marL="1143093" indent="0" algn="ctr">
              <a:buNone/>
              <a:defRPr sz="1000"/>
            </a:lvl5pPr>
            <a:lvl6pPr marL="1428867" indent="0" algn="ctr">
              <a:buNone/>
              <a:defRPr sz="1000"/>
            </a:lvl6pPr>
            <a:lvl7pPr marL="1714640" indent="0" algn="ctr">
              <a:buNone/>
              <a:defRPr sz="1000"/>
            </a:lvl7pPr>
            <a:lvl8pPr marL="2000413" indent="0" algn="ctr">
              <a:buNone/>
              <a:defRPr sz="1000"/>
            </a:lvl8pPr>
            <a:lvl9pPr marL="2286187" indent="0" algn="ctr">
              <a:buNone/>
              <a:defRPr sz="1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518-3261-47FE-B944-8C92492B71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5F6E-47C8-4563-B99F-58DA3A027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33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518-3261-47FE-B944-8C92492B71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5F6E-47C8-4563-B99F-58DA3A027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61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3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1pPr>
            <a:lvl2pPr marL="285773" indent="0">
              <a:buNone/>
              <a:defRPr sz="1250">
                <a:solidFill>
                  <a:schemeClr val="tx1">
                    <a:tint val="82000"/>
                  </a:schemeClr>
                </a:solidFill>
              </a:defRPr>
            </a:lvl2pPr>
            <a:lvl3pPr marL="571547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3pPr>
            <a:lvl4pPr marL="85732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4pPr>
            <a:lvl5pPr marL="1143093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5pPr>
            <a:lvl6pPr marL="1428867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6pPr>
            <a:lvl7pPr marL="171464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7pPr>
            <a:lvl8pPr marL="2000413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8pPr>
            <a:lvl9pPr marL="2286187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518-3261-47FE-B944-8C92492B71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5F6E-47C8-4563-B99F-58DA3A027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22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518-3261-47FE-B944-8C92492B71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5F6E-47C8-4563-B99F-58DA3A027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80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5773" indent="0">
              <a:buNone/>
              <a:defRPr sz="1250" b="1"/>
            </a:lvl2pPr>
            <a:lvl3pPr marL="571547" indent="0">
              <a:buNone/>
              <a:defRPr sz="1125" b="1"/>
            </a:lvl3pPr>
            <a:lvl4pPr marL="857320" indent="0">
              <a:buNone/>
              <a:defRPr sz="1000" b="1"/>
            </a:lvl4pPr>
            <a:lvl5pPr marL="1143093" indent="0">
              <a:buNone/>
              <a:defRPr sz="1000" b="1"/>
            </a:lvl5pPr>
            <a:lvl6pPr marL="1428867" indent="0">
              <a:buNone/>
              <a:defRPr sz="1000" b="1"/>
            </a:lvl6pPr>
            <a:lvl7pPr marL="1714640" indent="0">
              <a:buNone/>
              <a:defRPr sz="1000" b="1"/>
            </a:lvl7pPr>
            <a:lvl8pPr marL="2000413" indent="0">
              <a:buNone/>
              <a:defRPr sz="1000" b="1"/>
            </a:lvl8pPr>
            <a:lvl9pPr marL="2286187" indent="0">
              <a:buNone/>
              <a:defRPr sz="1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5773" indent="0">
              <a:buNone/>
              <a:defRPr sz="1250" b="1"/>
            </a:lvl2pPr>
            <a:lvl3pPr marL="571547" indent="0">
              <a:buNone/>
              <a:defRPr sz="1125" b="1"/>
            </a:lvl3pPr>
            <a:lvl4pPr marL="857320" indent="0">
              <a:buNone/>
              <a:defRPr sz="1000" b="1"/>
            </a:lvl4pPr>
            <a:lvl5pPr marL="1143093" indent="0">
              <a:buNone/>
              <a:defRPr sz="1000" b="1"/>
            </a:lvl5pPr>
            <a:lvl6pPr marL="1428867" indent="0">
              <a:buNone/>
              <a:defRPr sz="1000" b="1"/>
            </a:lvl6pPr>
            <a:lvl7pPr marL="1714640" indent="0">
              <a:buNone/>
              <a:defRPr sz="1000" b="1"/>
            </a:lvl7pPr>
            <a:lvl8pPr marL="2000413" indent="0">
              <a:buNone/>
              <a:defRPr sz="1000" b="1"/>
            </a:lvl8pPr>
            <a:lvl9pPr marL="2286187" indent="0">
              <a:buNone/>
              <a:defRPr sz="1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518-3261-47FE-B944-8C92492B71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5F6E-47C8-4563-B99F-58DA3A027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55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518-3261-47FE-B944-8C92492B71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5F6E-47C8-4563-B99F-58DA3A027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72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518-3261-47FE-B944-8C92492B71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5F6E-47C8-4563-B99F-58DA3A027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8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000"/>
            </a:lvl1pPr>
            <a:lvl2pPr>
              <a:defRPr sz="1750"/>
            </a:lvl2pPr>
            <a:lvl3pPr>
              <a:defRPr sz="1500"/>
            </a:lvl3pPr>
            <a:lvl4pPr>
              <a:defRPr sz="1250"/>
            </a:lvl4pPr>
            <a:lvl5pPr>
              <a:defRPr sz="12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000"/>
            </a:lvl1pPr>
            <a:lvl2pPr marL="285773" indent="0">
              <a:buNone/>
              <a:defRPr sz="875"/>
            </a:lvl2pPr>
            <a:lvl3pPr marL="571547" indent="0">
              <a:buNone/>
              <a:defRPr sz="750"/>
            </a:lvl3pPr>
            <a:lvl4pPr marL="857320" indent="0">
              <a:buNone/>
              <a:defRPr sz="625"/>
            </a:lvl4pPr>
            <a:lvl5pPr marL="1143093" indent="0">
              <a:buNone/>
              <a:defRPr sz="625"/>
            </a:lvl5pPr>
            <a:lvl6pPr marL="1428867" indent="0">
              <a:buNone/>
              <a:defRPr sz="625"/>
            </a:lvl6pPr>
            <a:lvl7pPr marL="1714640" indent="0">
              <a:buNone/>
              <a:defRPr sz="625"/>
            </a:lvl7pPr>
            <a:lvl8pPr marL="2000413" indent="0">
              <a:buNone/>
              <a:defRPr sz="625"/>
            </a:lvl8pPr>
            <a:lvl9pPr marL="2286187" indent="0">
              <a:buNone/>
              <a:defRPr sz="6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518-3261-47FE-B944-8C92492B71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5F6E-47C8-4563-B99F-58DA3A027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695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2000"/>
            </a:lvl1pPr>
            <a:lvl2pPr marL="285773" indent="0">
              <a:buNone/>
              <a:defRPr sz="1750"/>
            </a:lvl2pPr>
            <a:lvl3pPr marL="571547" indent="0">
              <a:buNone/>
              <a:defRPr sz="1500"/>
            </a:lvl3pPr>
            <a:lvl4pPr marL="857320" indent="0">
              <a:buNone/>
              <a:defRPr sz="1250"/>
            </a:lvl4pPr>
            <a:lvl5pPr marL="1143093" indent="0">
              <a:buNone/>
              <a:defRPr sz="1250"/>
            </a:lvl5pPr>
            <a:lvl6pPr marL="1428867" indent="0">
              <a:buNone/>
              <a:defRPr sz="1250"/>
            </a:lvl6pPr>
            <a:lvl7pPr marL="1714640" indent="0">
              <a:buNone/>
              <a:defRPr sz="1250"/>
            </a:lvl7pPr>
            <a:lvl8pPr marL="2000413" indent="0">
              <a:buNone/>
              <a:defRPr sz="1250"/>
            </a:lvl8pPr>
            <a:lvl9pPr marL="2286187" indent="0">
              <a:buNone/>
              <a:defRPr sz="12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000"/>
            </a:lvl1pPr>
            <a:lvl2pPr marL="285773" indent="0">
              <a:buNone/>
              <a:defRPr sz="875"/>
            </a:lvl2pPr>
            <a:lvl3pPr marL="571547" indent="0">
              <a:buNone/>
              <a:defRPr sz="750"/>
            </a:lvl3pPr>
            <a:lvl4pPr marL="857320" indent="0">
              <a:buNone/>
              <a:defRPr sz="625"/>
            </a:lvl4pPr>
            <a:lvl5pPr marL="1143093" indent="0">
              <a:buNone/>
              <a:defRPr sz="625"/>
            </a:lvl5pPr>
            <a:lvl6pPr marL="1428867" indent="0">
              <a:buNone/>
              <a:defRPr sz="625"/>
            </a:lvl6pPr>
            <a:lvl7pPr marL="1714640" indent="0">
              <a:buNone/>
              <a:defRPr sz="625"/>
            </a:lvl7pPr>
            <a:lvl8pPr marL="2000413" indent="0">
              <a:buNone/>
              <a:defRPr sz="625"/>
            </a:lvl8pPr>
            <a:lvl9pPr marL="2286187" indent="0">
              <a:buNone/>
              <a:defRPr sz="6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518-3261-47FE-B944-8C92492B71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5F6E-47C8-4563-B99F-58DA3A027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7435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518-3261-47FE-B944-8C92492B71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5F6E-47C8-4563-B99F-58DA3A027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372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CB518-3261-47FE-B944-8C92492B71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75F6E-47C8-4563-B99F-58DA3A027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78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E11E0F-103B-8F67-9596-5FF53910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19F68-D824-8083-6D51-CE4950E7D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2B2F1-0786-8F5E-55C0-59B794861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DD500-F6FE-4DB6-A9D3-FD497EB1BE0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902AD-7C51-580D-4DFD-109206598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04096-A1F4-A402-48F9-07732D978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14282-D6DE-484D-928F-E03A65944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1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CB518-3261-47FE-B944-8C92492B71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75F6E-47C8-4563-B99F-58DA3A027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1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microsoft.com/office/2007/relationships/hdphoto" Target="../media/hdphoto4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5" Type="http://schemas.openxmlformats.org/officeDocument/2006/relationships/image" Target="../media/image18.jpeg"/><Relationship Id="rId10" Type="http://schemas.openxmlformats.org/officeDocument/2006/relationships/image" Target="../media/image14.svg"/><Relationship Id="rId4" Type="http://schemas.microsoft.com/office/2007/relationships/hdphoto" Target="../media/hdphoto1.wdp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9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8" Type="http://schemas.openxmlformats.org/officeDocument/2006/relationships/image" Target="../media/image28.png"/><Relationship Id="rId3" Type="http://schemas.openxmlformats.org/officeDocument/2006/relationships/image" Target="../media/image19.jpe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4.svg"/><Relationship Id="rId15" Type="http://schemas.openxmlformats.org/officeDocument/2006/relationships/image" Target="../media/image25.png"/><Relationship Id="rId10" Type="http://schemas.openxmlformats.org/officeDocument/2006/relationships/image" Target="../media/image21.png"/><Relationship Id="rId19" Type="http://schemas.openxmlformats.org/officeDocument/2006/relationships/image" Target="../media/image29.png"/><Relationship Id="rId4" Type="http://schemas.openxmlformats.org/officeDocument/2006/relationships/image" Target="../media/image13.png"/><Relationship Id="rId9" Type="http://schemas.openxmlformats.org/officeDocument/2006/relationships/image" Target="../media/image20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B1FE-24B8-2BC1-FC2C-4A64374CCA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Age- and time-specific space-for-time mark recapture models using </a:t>
            </a:r>
            <a:r>
              <a:rPr lang="en-US" i="1" dirty="0"/>
              <a:t>space4time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F435C-D5F8-6A2C-2842-FB8E8DDA1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00" y="6299200"/>
            <a:ext cx="1422400" cy="41275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630684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C4CB-7EB9-CCCF-85A0-4E9B7159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06A3E-DA56-961F-EA95-FCE27D72E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Brief intro to mark-recapture models (~ 10 minutes)</a:t>
            </a:r>
          </a:p>
          <a:p>
            <a:r>
              <a:rPr lang="en-US" dirty="0"/>
              <a:t>The space4time model (~ 10 minutes)</a:t>
            </a:r>
          </a:p>
          <a:p>
            <a:r>
              <a:rPr lang="en-US" dirty="0"/>
              <a:t>Age data (~10 minutes)</a:t>
            </a:r>
          </a:p>
          <a:p>
            <a:r>
              <a:rPr lang="en-US" dirty="0"/>
              <a:t>Overview of space4time package (~10 minutes)</a:t>
            </a:r>
          </a:p>
          <a:p>
            <a:r>
              <a:rPr lang="en-US" dirty="0"/>
              <a:t>Example using fish captured at the East Fork Potlatch RST (1 hour)</a:t>
            </a:r>
          </a:p>
        </p:txBody>
      </p:sp>
    </p:spTree>
    <p:extLst>
      <p:ext uri="{BB962C8B-B14F-4D97-AF65-F5344CB8AC3E}">
        <p14:creationId xmlns:p14="http://schemas.microsoft.com/office/powerpoint/2010/main" val="3464021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EA83B-187C-5778-89B1-4B6081ED4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</a:rPr>
              <a:t>Cormack-Jolly-</a:t>
            </a:r>
            <a:r>
              <a:rPr lang="en-US" err="1">
                <a:solidFill>
                  <a:schemeClr val="bg2"/>
                </a:solidFill>
              </a:rPr>
              <a:t>Seber</a:t>
            </a:r>
            <a:r>
              <a:rPr lang="en-US">
                <a:solidFill>
                  <a:schemeClr val="bg2"/>
                </a:solidFill>
              </a:rPr>
              <a:t>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021D5-16EE-3F5E-03A7-E730B3C5E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593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E95D-BA2B-DC7A-5061-381EDB56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Cormack-Jolly-Seber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8F650-72F3-866B-12C1-05A125F5F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938" y="1877141"/>
            <a:ext cx="2735687" cy="569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State process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8C96D2F-0C30-36A1-5276-A7FF9ADAFC1A}"/>
              </a:ext>
            </a:extLst>
          </p:cNvPr>
          <p:cNvSpPr/>
          <p:nvPr/>
        </p:nvSpPr>
        <p:spPr>
          <a:xfrm>
            <a:off x="2900966" y="2386706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210F5E-EE4C-03CD-9564-2B30CAD2DFD4}"/>
              </a:ext>
            </a:extLst>
          </p:cNvPr>
          <p:cNvSpPr txBox="1">
            <a:spLocks/>
          </p:cNvSpPr>
          <p:nvPr/>
        </p:nvSpPr>
        <p:spPr>
          <a:xfrm>
            <a:off x="997040" y="2490475"/>
            <a:ext cx="1572295" cy="569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Alive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3E375F-26E3-0804-E86B-2813792247A7}"/>
              </a:ext>
            </a:extLst>
          </p:cNvPr>
          <p:cNvSpPr txBox="1">
            <a:spLocks/>
          </p:cNvSpPr>
          <p:nvPr/>
        </p:nvSpPr>
        <p:spPr>
          <a:xfrm>
            <a:off x="997039" y="3287378"/>
            <a:ext cx="1572295" cy="569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/>
              <a:t>Dead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773DAE-76EA-E94E-514B-12D5B8672D3C}"/>
              </a:ext>
            </a:extLst>
          </p:cNvPr>
          <p:cNvSpPr txBox="1">
            <a:spLocks/>
          </p:cNvSpPr>
          <p:nvPr/>
        </p:nvSpPr>
        <p:spPr>
          <a:xfrm>
            <a:off x="174938" y="4296222"/>
            <a:ext cx="3978499" cy="569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Observation process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B1CD417-37D3-8F51-4FC8-E847CFB61863}"/>
              </a:ext>
            </a:extLst>
          </p:cNvPr>
          <p:cNvSpPr txBox="1">
            <a:spLocks/>
          </p:cNvSpPr>
          <p:nvPr/>
        </p:nvSpPr>
        <p:spPr>
          <a:xfrm>
            <a:off x="997040" y="4947075"/>
            <a:ext cx="1572295" cy="569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/>
              <a:t>Seen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FF482B-D503-6736-819D-588A5ECBF6EA}"/>
              </a:ext>
            </a:extLst>
          </p:cNvPr>
          <p:cNvSpPr txBox="1">
            <a:spLocks/>
          </p:cNvSpPr>
          <p:nvPr/>
        </p:nvSpPr>
        <p:spPr>
          <a:xfrm>
            <a:off x="997039" y="5743978"/>
            <a:ext cx="1572295" cy="569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/>
              <a:t>Not seen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E3EDE94-572F-9E82-4BF3-181E78ACA930}"/>
              </a:ext>
            </a:extLst>
          </p:cNvPr>
          <p:cNvSpPr/>
          <p:nvPr/>
        </p:nvSpPr>
        <p:spPr>
          <a:xfrm>
            <a:off x="4153437" y="2386706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DDE448-4926-F5C0-7251-AEDC9F6FB64E}"/>
              </a:ext>
            </a:extLst>
          </p:cNvPr>
          <p:cNvSpPr/>
          <p:nvPr/>
        </p:nvSpPr>
        <p:spPr>
          <a:xfrm>
            <a:off x="5408053" y="2386706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05B331-0023-2811-A625-BCE2AED981EA}"/>
              </a:ext>
            </a:extLst>
          </p:cNvPr>
          <p:cNvSpPr/>
          <p:nvPr/>
        </p:nvSpPr>
        <p:spPr>
          <a:xfrm>
            <a:off x="6662669" y="2386706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0A0C21-A0CB-DD78-EBAA-D003F711B372}"/>
              </a:ext>
            </a:extLst>
          </p:cNvPr>
          <p:cNvSpPr/>
          <p:nvPr/>
        </p:nvSpPr>
        <p:spPr>
          <a:xfrm>
            <a:off x="7917285" y="3256032"/>
            <a:ext cx="457200" cy="4572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878F303-67B4-EC77-CFAC-4986F80E40D4}"/>
              </a:ext>
            </a:extLst>
          </p:cNvPr>
          <p:cNvSpPr/>
          <p:nvPr/>
        </p:nvSpPr>
        <p:spPr>
          <a:xfrm>
            <a:off x="9171901" y="3256032"/>
            <a:ext cx="457200" cy="4572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EBAFE0-C305-55DD-7898-5619D96A6C6E}"/>
              </a:ext>
            </a:extLst>
          </p:cNvPr>
          <p:cNvSpPr/>
          <p:nvPr/>
        </p:nvSpPr>
        <p:spPr>
          <a:xfrm>
            <a:off x="2900966" y="4847852"/>
            <a:ext cx="4572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59F03C1-75E4-71A2-A70E-A8B4E39F615D}"/>
              </a:ext>
            </a:extLst>
          </p:cNvPr>
          <p:cNvSpPr/>
          <p:nvPr/>
        </p:nvSpPr>
        <p:spPr>
          <a:xfrm>
            <a:off x="4153437" y="4847852"/>
            <a:ext cx="4572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F5FFFB-3020-F235-8B67-64DBB206AE53}"/>
              </a:ext>
            </a:extLst>
          </p:cNvPr>
          <p:cNvSpPr/>
          <p:nvPr/>
        </p:nvSpPr>
        <p:spPr>
          <a:xfrm>
            <a:off x="5408053" y="5614142"/>
            <a:ext cx="457200" cy="457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A14306-1322-CE3E-42E6-21A6B04A2B06}"/>
              </a:ext>
            </a:extLst>
          </p:cNvPr>
          <p:cNvSpPr/>
          <p:nvPr/>
        </p:nvSpPr>
        <p:spPr>
          <a:xfrm>
            <a:off x="6662669" y="4847852"/>
            <a:ext cx="4572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147BA00-274F-8487-FC48-BD8943345733}"/>
              </a:ext>
            </a:extLst>
          </p:cNvPr>
          <p:cNvSpPr/>
          <p:nvPr/>
        </p:nvSpPr>
        <p:spPr>
          <a:xfrm>
            <a:off x="7917285" y="5587666"/>
            <a:ext cx="457200" cy="457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51D1DF6-861F-F9B4-AB64-0A713ADC4AA0}"/>
              </a:ext>
            </a:extLst>
          </p:cNvPr>
          <p:cNvSpPr/>
          <p:nvPr/>
        </p:nvSpPr>
        <p:spPr>
          <a:xfrm>
            <a:off x="9171901" y="5632357"/>
            <a:ext cx="457200" cy="45720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CB0F1BC-3719-DB34-2BB7-C8F036B1C242}"/>
              </a:ext>
            </a:extLst>
          </p:cNvPr>
          <p:cNvCxnSpPr>
            <a:cxnSpLocks/>
          </p:cNvCxnSpPr>
          <p:nvPr/>
        </p:nvCxnSpPr>
        <p:spPr>
          <a:xfrm>
            <a:off x="3470856" y="2615306"/>
            <a:ext cx="598868" cy="0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BD19A78-B180-5C4D-A493-42351C74CA93}"/>
              </a:ext>
            </a:extLst>
          </p:cNvPr>
          <p:cNvCxnSpPr>
            <a:cxnSpLocks/>
          </p:cNvCxnSpPr>
          <p:nvPr/>
        </p:nvCxnSpPr>
        <p:spPr>
          <a:xfrm>
            <a:off x="3129566" y="3060320"/>
            <a:ext cx="0" cy="167910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41FDAFE-7130-8944-EB48-802BBBF3B086}"/>
              </a:ext>
            </a:extLst>
          </p:cNvPr>
          <p:cNvCxnSpPr>
            <a:cxnSpLocks/>
          </p:cNvCxnSpPr>
          <p:nvPr/>
        </p:nvCxnSpPr>
        <p:spPr>
          <a:xfrm>
            <a:off x="4711521" y="2615306"/>
            <a:ext cx="598868" cy="0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852293-ADA2-6397-F6ED-F6A36D4C7096}"/>
              </a:ext>
            </a:extLst>
          </p:cNvPr>
          <p:cNvCxnSpPr>
            <a:cxnSpLocks/>
          </p:cNvCxnSpPr>
          <p:nvPr/>
        </p:nvCxnSpPr>
        <p:spPr>
          <a:xfrm>
            <a:off x="5960772" y="2615306"/>
            <a:ext cx="598868" cy="0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4EDACC6-DA5B-56D1-75F9-7AA8055D7D2F}"/>
              </a:ext>
            </a:extLst>
          </p:cNvPr>
          <p:cNvCxnSpPr>
            <a:cxnSpLocks/>
          </p:cNvCxnSpPr>
          <p:nvPr/>
        </p:nvCxnSpPr>
        <p:spPr>
          <a:xfrm>
            <a:off x="7163334" y="2787294"/>
            <a:ext cx="710486" cy="567922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0246F6F-F03E-EF45-ADA1-8103855BB020}"/>
              </a:ext>
            </a:extLst>
          </p:cNvPr>
          <p:cNvCxnSpPr>
            <a:cxnSpLocks/>
          </p:cNvCxnSpPr>
          <p:nvPr/>
        </p:nvCxnSpPr>
        <p:spPr>
          <a:xfrm>
            <a:off x="4382037" y="2967328"/>
            <a:ext cx="0" cy="1772097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E126A7F-C838-A474-8BDD-25D19BBE16B3}"/>
              </a:ext>
            </a:extLst>
          </p:cNvPr>
          <p:cNvCxnSpPr>
            <a:cxnSpLocks/>
          </p:cNvCxnSpPr>
          <p:nvPr/>
        </p:nvCxnSpPr>
        <p:spPr>
          <a:xfrm>
            <a:off x="6891269" y="2967328"/>
            <a:ext cx="0" cy="1772097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F83DEC5-144E-D866-CFC1-E55E0F8EB453}"/>
              </a:ext>
            </a:extLst>
          </p:cNvPr>
          <p:cNvCxnSpPr>
            <a:cxnSpLocks/>
          </p:cNvCxnSpPr>
          <p:nvPr/>
        </p:nvCxnSpPr>
        <p:spPr>
          <a:xfrm>
            <a:off x="5636653" y="2967328"/>
            <a:ext cx="0" cy="2549592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50A2FB5-FE57-A423-22BD-95B1BC34966C}"/>
              </a:ext>
            </a:extLst>
          </p:cNvPr>
          <p:cNvCxnSpPr>
            <a:cxnSpLocks/>
          </p:cNvCxnSpPr>
          <p:nvPr/>
        </p:nvCxnSpPr>
        <p:spPr>
          <a:xfrm>
            <a:off x="8124420" y="3792270"/>
            <a:ext cx="0" cy="167910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BCDDA62-A959-90A5-00C6-E08DFE7845DB}"/>
              </a:ext>
            </a:extLst>
          </p:cNvPr>
          <p:cNvCxnSpPr>
            <a:cxnSpLocks/>
          </p:cNvCxnSpPr>
          <p:nvPr/>
        </p:nvCxnSpPr>
        <p:spPr>
          <a:xfrm>
            <a:off x="9400501" y="3837815"/>
            <a:ext cx="0" cy="167910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E41807A-A852-FE07-92EA-CE48CCD72407}"/>
              </a:ext>
            </a:extLst>
          </p:cNvPr>
          <p:cNvCxnSpPr>
            <a:cxnSpLocks/>
          </p:cNvCxnSpPr>
          <p:nvPr/>
        </p:nvCxnSpPr>
        <p:spPr>
          <a:xfrm>
            <a:off x="8476446" y="3483380"/>
            <a:ext cx="598868" cy="0"/>
          </a:xfrm>
          <a:prstGeom prst="straightConnector1">
            <a:avLst/>
          </a:prstGeom>
          <a:ln w="38100">
            <a:solidFill>
              <a:schemeClr val="bg1"/>
            </a:solidFill>
            <a:prstDash val="soli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7A7EA92-BE15-5531-E9D4-3C3454CBB4A8}"/>
              </a:ext>
            </a:extLst>
          </p:cNvPr>
          <p:cNvSpPr txBox="1"/>
          <p:nvPr/>
        </p:nvSpPr>
        <p:spPr>
          <a:xfrm>
            <a:off x="8648164" y="658574"/>
            <a:ext cx="23825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bg2"/>
                </a:solidFill>
              </a:rPr>
              <a:t>Stochastic</a:t>
            </a:r>
          </a:p>
          <a:p>
            <a:endParaRPr lang="en-US" sz="1800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Deterministic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4D05723-8D6C-4C8D-EC09-BA9C07FD101A}"/>
              </a:ext>
            </a:extLst>
          </p:cNvPr>
          <p:cNvCxnSpPr>
            <a:cxnSpLocks/>
          </p:cNvCxnSpPr>
          <p:nvPr/>
        </p:nvCxnSpPr>
        <p:spPr>
          <a:xfrm>
            <a:off x="10343882" y="822996"/>
            <a:ext cx="598868" cy="0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8953E38-75C5-0A14-40A4-7618BABA117D}"/>
              </a:ext>
            </a:extLst>
          </p:cNvPr>
          <p:cNvCxnSpPr>
            <a:cxnSpLocks/>
          </p:cNvCxnSpPr>
          <p:nvPr/>
        </p:nvCxnSpPr>
        <p:spPr>
          <a:xfrm>
            <a:off x="10343882" y="1401295"/>
            <a:ext cx="598868" cy="0"/>
          </a:xfrm>
          <a:prstGeom prst="straightConnector1">
            <a:avLst/>
          </a:prstGeom>
          <a:ln w="38100">
            <a:solidFill>
              <a:schemeClr val="bg1"/>
            </a:solidFill>
            <a:prstDash val="soli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11243F-E08A-5E7F-7134-900008A42D34}"/>
              </a:ext>
            </a:extLst>
          </p:cNvPr>
          <p:cNvSpPr txBox="1">
            <a:spLocks/>
          </p:cNvSpPr>
          <p:nvPr/>
        </p:nvSpPr>
        <p:spPr>
          <a:xfrm>
            <a:off x="2781753" y="1651298"/>
            <a:ext cx="580789" cy="569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t =1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7102B5D-4784-6A40-1EF7-FEEF1EA5D19C}"/>
              </a:ext>
            </a:extLst>
          </p:cNvPr>
          <p:cNvSpPr txBox="1">
            <a:spLocks/>
          </p:cNvSpPr>
          <p:nvPr/>
        </p:nvSpPr>
        <p:spPr>
          <a:xfrm>
            <a:off x="4091642" y="1649998"/>
            <a:ext cx="580789" cy="569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t =2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E3E7652-DC5F-728A-3732-41EDBF33B571}"/>
              </a:ext>
            </a:extLst>
          </p:cNvPr>
          <p:cNvSpPr txBox="1">
            <a:spLocks/>
          </p:cNvSpPr>
          <p:nvPr/>
        </p:nvSpPr>
        <p:spPr>
          <a:xfrm>
            <a:off x="5346258" y="1649998"/>
            <a:ext cx="580789" cy="569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t =3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22A2B0A3-F12B-3144-F2D5-8D9EAC64685A}"/>
              </a:ext>
            </a:extLst>
          </p:cNvPr>
          <p:cNvSpPr txBox="1">
            <a:spLocks/>
          </p:cNvSpPr>
          <p:nvPr/>
        </p:nvSpPr>
        <p:spPr>
          <a:xfrm>
            <a:off x="6553302" y="1649998"/>
            <a:ext cx="580789" cy="569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t =4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FD794D32-1397-ADEC-EC16-B40035F432BE}"/>
              </a:ext>
            </a:extLst>
          </p:cNvPr>
          <p:cNvSpPr txBox="1">
            <a:spLocks/>
          </p:cNvSpPr>
          <p:nvPr/>
        </p:nvSpPr>
        <p:spPr>
          <a:xfrm>
            <a:off x="7807918" y="1649998"/>
            <a:ext cx="580789" cy="569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t =5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34E5D5C-A3D0-1C49-EF93-570914380789}"/>
              </a:ext>
            </a:extLst>
          </p:cNvPr>
          <p:cNvSpPr txBox="1">
            <a:spLocks/>
          </p:cNvSpPr>
          <p:nvPr/>
        </p:nvSpPr>
        <p:spPr>
          <a:xfrm>
            <a:off x="9152878" y="1649997"/>
            <a:ext cx="580789" cy="569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t =6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96ACFB0-E8D2-652E-A90D-6D082FC1830E}"/>
                  </a:ext>
                </a:extLst>
              </p:cNvPr>
              <p:cNvSpPr txBox="1"/>
              <p:nvPr/>
            </p:nvSpPr>
            <p:spPr>
              <a:xfrm>
                <a:off x="3506168" y="2069480"/>
                <a:ext cx="5779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40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96ACFB0-E8D2-652E-A90D-6D082FC18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168" y="2069480"/>
                <a:ext cx="577939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DD61546-5F20-3A52-B649-655D2534F40E}"/>
                  </a:ext>
                </a:extLst>
              </p:cNvPr>
              <p:cNvSpPr txBox="1"/>
              <p:nvPr/>
            </p:nvSpPr>
            <p:spPr>
              <a:xfrm>
                <a:off x="4347288" y="3539925"/>
                <a:ext cx="4464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DD61546-5F20-3A52-B649-655D2534F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288" y="3539925"/>
                <a:ext cx="44644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96E74A-C51D-2B43-3F5F-1F145B329830}"/>
                  </a:ext>
                </a:extLst>
              </p:cNvPr>
              <p:cNvSpPr txBox="1"/>
              <p:nvPr/>
            </p:nvSpPr>
            <p:spPr>
              <a:xfrm>
                <a:off x="5615188" y="3572300"/>
                <a:ext cx="9989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a:rPr lang="en-US" sz="18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96E74A-C51D-2B43-3F5F-1F145B329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188" y="3572300"/>
                <a:ext cx="998970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79F5FC0-ACDD-D708-7BF9-9D2E96177425}"/>
                  </a:ext>
                </a:extLst>
              </p:cNvPr>
              <p:cNvSpPr txBox="1"/>
              <p:nvPr/>
            </p:nvSpPr>
            <p:spPr>
              <a:xfrm>
                <a:off x="6877380" y="3572300"/>
                <a:ext cx="4571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79F5FC0-ACDD-D708-7BF9-9D2E96177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380" y="3572300"/>
                <a:ext cx="457178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7E8228F-13A3-06F2-210A-4433D25CD26D}"/>
                  </a:ext>
                </a:extLst>
              </p:cNvPr>
              <p:cNvSpPr txBox="1"/>
              <p:nvPr/>
            </p:nvSpPr>
            <p:spPr>
              <a:xfrm>
                <a:off x="4810280" y="2069480"/>
                <a:ext cx="5779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40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7E8228F-13A3-06F2-210A-4433D25CD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280" y="2069480"/>
                <a:ext cx="577939" cy="461665"/>
              </a:xfrm>
              <a:prstGeom prst="rect">
                <a:avLst/>
              </a:prstGeom>
              <a:blipFill>
                <a:blip r:embed="rId7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FD82015-2A4E-46D2-8E24-4DCD1D689232}"/>
                  </a:ext>
                </a:extLst>
              </p:cNvPr>
              <p:cNvSpPr txBox="1"/>
              <p:nvPr/>
            </p:nvSpPr>
            <p:spPr>
              <a:xfrm>
                <a:off x="5993865" y="2081988"/>
                <a:ext cx="5779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240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FD82015-2A4E-46D2-8E24-4DCD1D689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865" y="2081988"/>
                <a:ext cx="577939" cy="461665"/>
              </a:xfrm>
              <a:prstGeom prst="rect">
                <a:avLst/>
              </a:prstGeom>
              <a:blipFill>
                <a:blip r:embed="rId8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00D5A0F-3FF8-FD91-E2ED-8E920E8C72F4}"/>
                  </a:ext>
                </a:extLst>
              </p:cNvPr>
              <p:cNvSpPr txBox="1"/>
              <p:nvPr/>
            </p:nvSpPr>
            <p:spPr>
              <a:xfrm>
                <a:off x="7095792" y="2490475"/>
                <a:ext cx="119854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a:rPr lang="en-US" sz="2000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sz="20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00D5A0F-3FF8-FD91-E2ED-8E920E8C7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792" y="2490475"/>
                <a:ext cx="1198541" cy="400110"/>
              </a:xfrm>
              <a:prstGeom prst="rect">
                <a:avLst/>
              </a:prstGeom>
              <a:blipFill>
                <a:blip r:embed="rId9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72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CF2D-A213-834B-669E-A479FB896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3526" y="365125"/>
            <a:ext cx="4083728" cy="1325563"/>
          </a:xfrm>
        </p:spPr>
        <p:txBody>
          <a:bodyPr/>
          <a:lstStyle/>
          <a:p>
            <a:r>
              <a:rPr lang="en-US"/>
              <a:t>Space-for-time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26F2ACA0-B9F8-2B5E-4468-5641828B6226}"/>
              </a:ext>
            </a:extLst>
          </p:cNvPr>
          <p:cNvCxnSpPr>
            <a:cxnSpLocks/>
          </p:cNvCxnSpPr>
          <p:nvPr/>
        </p:nvCxnSpPr>
        <p:spPr>
          <a:xfrm>
            <a:off x="1211975" y="1611375"/>
            <a:ext cx="9466207" cy="3635250"/>
          </a:xfrm>
          <a:prstGeom prst="curvedConnector3">
            <a:avLst/>
          </a:prstGeom>
          <a:ln w="3651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E63E65-C73A-BB3D-9A2A-03DB6901ADDA}"/>
              </a:ext>
            </a:extLst>
          </p:cNvPr>
          <p:cNvCxnSpPr>
            <a:cxnSpLocks/>
          </p:cNvCxnSpPr>
          <p:nvPr/>
        </p:nvCxnSpPr>
        <p:spPr>
          <a:xfrm>
            <a:off x="4795421" y="1611375"/>
            <a:ext cx="0" cy="141154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20C31E9-2E6B-5D98-57DF-EF829A4175AF}"/>
              </a:ext>
            </a:extLst>
          </p:cNvPr>
          <p:cNvCxnSpPr>
            <a:cxnSpLocks/>
          </p:cNvCxnSpPr>
          <p:nvPr/>
        </p:nvCxnSpPr>
        <p:spPr>
          <a:xfrm>
            <a:off x="10272943" y="4540850"/>
            <a:ext cx="0" cy="141154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CA5791-E913-E968-1EC3-0D9CA55F0BFB}"/>
              </a:ext>
            </a:extLst>
          </p:cNvPr>
          <p:cNvCxnSpPr>
            <a:cxnSpLocks/>
          </p:cNvCxnSpPr>
          <p:nvPr/>
        </p:nvCxnSpPr>
        <p:spPr>
          <a:xfrm>
            <a:off x="7096217" y="3835075"/>
            <a:ext cx="0" cy="141154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366ABE1-B6DB-7EF7-18DB-7E94FB66B94E}"/>
              </a:ext>
            </a:extLst>
          </p:cNvPr>
          <p:cNvSpPr/>
          <p:nvPr/>
        </p:nvSpPr>
        <p:spPr>
          <a:xfrm>
            <a:off x="2620392" y="6125555"/>
            <a:ext cx="6951215" cy="232920"/>
          </a:xfrm>
          <a:prstGeom prst="rightArrow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LOST: - FISHBIO | Fisheries Consultants">
            <a:extLst>
              <a:ext uri="{FF2B5EF4-FFF2-40B4-BE49-F238E27FC236}">
                <a16:creationId xmlns:a16="http://schemas.microsoft.com/office/drawing/2014/main" id="{B14364AF-9B2B-59D5-5E40-CA91167AE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18" y="1174419"/>
            <a:ext cx="1376718" cy="103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85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61D25-15AF-20C3-F061-C02AE54E1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0107-13EF-69CC-3C34-259DFB462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The space4time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379E2-52C6-283E-85A0-C90D511AEE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55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BF1D-198B-E09D-F0D5-A825A4EF2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6D59A-8FF6-A739-F3ED-139812ADC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412" y="1690688"/>
            <a:ext cx="8893175" cy="24501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Develop a mark-recapture model for juvenile steelhead</a:t>
            </a:r>
          </a:p>
          <a:p>
            <a:pPr lvl="1"/>
            <a:r>
              <a:rPr lang="en-US" dirty="0"/>
              <a:t>Estimate age-specific survival</a:t>
            </a:r>
          </a:p>
          <a:p>
            <a:pPr lvl="1"/>
            <a:r>
              <a:rPr lang="en-US" dirty="0"/>
              <a:t>Life history contributions to smolt abundance</a:t>
            </a:r>
          </a:p>
          <a:p>
            <a:pPr lvl="1"/>
            <a:r>
              <a:rPr lang="en-US" dirty="0"/>
              <a:t>Relate survival to environmental and biotic factors</a:t>
            </a:r>
          </a:p>
          <a:p>
            <a:endParaRPr lang="en-US" dirty="0"/>
          </a:p>
        </p:txBody>
      </p:sp>
      <p:sp>
        <p:nvSpPr>
          <p:cNvPr id="5" name="AutoShape 2" descr="Image preview">
            <a:extLst>
              <a:ext uri="{FF2B5EF4-FFF2-40B4-BE49-F238E27FC236}">
                <a16:creationId xmlns:a16="http://schemas.microsoft.com/office/drawing/2014/main" id="{D8EE920E-F689-89B1-A0CD-917F6BF110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1D88D9-9D93-820F-1FAA-6D2630A26F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230" b="13828"/>
          <a:stretch/>
        </p:blipFill>
        <p:spPr>
          <a:xfrm flipH="1">
            <a:off x="3863007" y="3888080"/>
            <a:ext cx="4465984" cy="2558463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831948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8A77CDA-5FDD-02ED-5594-B48B32FD8E6D}"/>
              </a:ext>
            </a:extLst>
          </p:cNvPr>
          <p:cNvSpPr/>
          <p:nvPr/>
        </p:nvSpPr>
        <p:spPr>
          <a:xfrm>
            <a:off x="1342857" y="2429803"/>
            <a:ext cx="1350074" cy="58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Age-1</a:t>
            </a:r>
          </a:p>
        </p:txBody>
      </p:sp>
      <p:pic>
        <p:nvPicPr>
          <p:cNvPr id="17" name="Picture 8" descr="Steelhead - Wild Salmon Center">
            <a:extLst>
              <a:ext uri="{FF2B5EF4-FFF2-40B4-BE49-F238E27FC236}">
                <a16:creationId xmlns:a16="http://schemas.microsoft.com/office/drawing/2014/main" id="{93FD7A38-7473-E2E5-335B-3CB87938CC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247" b="96104" l="213" r="97660">
                        <a14:foregroundMark x1="52979" y1="27273" x2="46596" y2="6494"/>
                        <a14:foregroundMark x1="45106" y1="17532" x2="55957" y2="25974"/>
                        <a14:foregroundMark x1="55957" y1="25974" x2="55957" y2="26623"/>
                        <a14:foregroundMark x1="9787" y1="44156" x2="4043" y2="43506"/>
                        <a14:foregroundMark x1="10213" y1="60390" x2="3617" y2="59740"/>
                        <a14:foregroundMark x1="5106" y1="46753" x2="1915" y2="46104"/>
                        <a14:foregroundMark x1="48085" y1="81818" x2="49362" y2="94805"/>
                        <a14:foregroundMark x1="95745" y1="27273" x2="83191" y2="46753"/>
                        <a14:foregroundMark x1="84894" y1="52597" x2="97660" y2="74675"/>
                        <a14:foregroundMark x1="71702" y1="74675" x2="68511" y2="85714"/>
                        <a14:foregroundMark x1="46596" y1="15584" x2="49149" y2="3896"/>
                        <a14:foregroundMark x1="51277" y1="20130" x2="50638" y2="7792"/>
                        <a14:foregroundMark x1="54894" y1="35714" x2="51702" y2="7792"/>
                        <a14:foregroundMark x1="56170" y1="33117" x2="52766" y2="12987"/>
                        <a14:foregroundMark x1="49787" y1="83117" x2="49574" y2="96104"/>
                        <a14:foregroundMark x1="46383" y1="87662" x2="48723" y2="96104"/>
                        <a14:foregroundMark x1="51064" y1="87013" x2="50426" y2="96104"/>
                        <a14:foregroundMark x1="43617" y1="81169" x2="47021" y2="89610"/>
                        <a14:foregroundMark x1="27447" y1="75325" x2="30000" y2="75974"/>
                        <a14:foregroundMark x1="18723" y1="72078" x2="20851" y2="73377"/>
                        <a14:foregroundMark x1="2766" y1="57792" x2="1277" y2="56494"/>
                        <a14:foregroundMark x1="1915" y1="44156" x2="213" y2="46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1" r="532"/>
          <a:stretch/>
        </p:blipFill>
        <p:spPr bwMode="auto">
          <a:xfrm flipH="1">
            <a:off x="1664436" y="2853565"/>
            <a:ext cx="706916" cy="233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CDFBEF0-F4C8-F7B7-2170-A02FB2DE4D33}"/>
              </a:ext>
            </a:extLst>
          </p:cNvPr>
          <p:cNvSpPr/>
          <p:nvPr/>
        </p:nvSpPr>
        <p:spPr>
          <a:xfrm>
            <a:off x="1342857" y="3501011"/>
            <a:ext cx="1350074" cy="58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Age-2</a:t>
            </a:r>
          </a:p>
        </p:txBody>
      </p:sp>
      <p:pic>
        <p:nvPicPr>
          <p:cNvPr id="22" name="Picture 8" descr="Steelhead - Wild Salmon Center">
            <a:extLst>
              <a:ext uri="{FF2B5EF4-FFF2-40B4-BE49-F238E27FC236}">
                <a16:creationId xmlns:a16="http://schemas.microsoft.com/office/drawing/2014/main" id="{65544B07-65D6-4FB8-1C54-FF792BF9E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247" b="96104" l="213" r="97660">
                        <a14:foregroundMark x1="52979" y1="27273" x2="46596" y2="6494"/>
                        <a14:foregroundMark x1="45106" y1="17532" x2="55957" y2="25974"/>
                        <a14:foregroundMark x1="55957" y1="25974" x2="55957" y2="26623"/>
                        <a14:foregroundMark x1="9787" y1="44156" x2="4043" y2="43506"/>
                        <a14:foregroundMark x1="10213" y1="60390" x2="3617" y2="59740"/>
                        <a14:foregroundMark x1="5106" y1="46753" x2="1915" y2="46104"/>
                        <a14:foregroundMark x1="48085" y1="81818" x2="49362" y2="94805"/>
                        <a14:foregroundMark x1="95745" y1="27273" x2="83191" y2="46753"/>
                        <a14:foregroundMark x1="84894" y1="52597" x2="97660" y2="74675"/>
                        <a14:foregroundMark x1="71702" y1="74675" x2="68511" y2="85714"/>
                        <a14:foregroundMark x1="46596" y1="15584" x2="49149" y2="3896"/>
                        <a14:foregroundMark x1="51277" y1="20130" x2="50638" y2="7792"/>
                        <a14:foregroundMark x1="54894" y1="35714" x2="51702" y2="7792"/>
                        <a14:foregroundMark x1="56170" y1="33117" x2="52766" y2="12987"/>
                        <a14:foregroundMark x1="49787" y1="83117" x2="49574" y2="96104"/>
                        <a14:foregroundMark x1="46383" y1="87662" x2="48723" y2="96104"/>
                        <a14:foregroundMark x1="51064" y1="87013" x2="50426" y2="96104"/>
                        <a14:foregroundMark x1="43617" y1="81169" x2="47021" y2="89610"/>
                        <a14:foregroundMark x1="27447" y1="75325" x2="30000" y2="75974"/>
                        <a14:foregroundMark x1="18723" y1="72078" x2="20851" y2="73377"/>
                        <a14:foregroundMark x1="2766" y1="57792" x2="1277" y2="56494"/>
                        <a14:foregroundMark x1="1915" y1="44156" x2="213" y2="46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1" r="532"/>
          <a:stretch/>
        </p:blipFill>
        <p:spPr bwMode="auto">
          <a:xfrm flipH="1">
            <a:off x="1559052" y="3926338"/>
            <a:ext cx="917684" cy="30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EDA3902-B603-A5A9-B640-1D5BF66BF6DC}"/>
              </a:ext>
            </a:extLst>
          </p:cNvPr>
          <p:cNvSpPr/>
          <p:nvPr/>
        </p:nvSpPr>
        <p:spPr>
          <a:xfrm>
            <a:off x="1342857" y="4678703"/>
            <a:ext cx="1350074" cy="58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Age-3</a:t>
            </a:r>
          </a:p>
        </p:txBody>
      </p:sp>
      <p:pic>
        <p:nvPicPr>
          <p:cNvPr id="24" name="Picture 8" descr="Steelhead - Wild Salmon Center">
            <a:extLst>
              <a:ext uri="{FF2B5EF4-FFF2-40B4-BE49-F238E27FC236}">
                <a16:creationId xmlns:a16="http://schemas.microsoft.com/office/drawing/2014/main" id="{EE58D70A-4FA3-5FC7-C057-D5B8BBF552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247" b="96104" l="213" r="97660">
                        <a14:foregroundMark x1="52979" y1="27273" x2="46596" y2="6494"/>
                        <a14:foregroundMark x1="45106" y1="17532" x2="55957" y2="25974"/>
                        <a14:foregroundMark x1="55957" y1="25974" x2="55957" y2="26623"/>
                        <a14:foregroundMark x1="9787" y1="44156" x2="4043" y2="43506"/>
                        <a14:foregroundMark x1="10213" y1="60390" x2="3617" y2="59740"/>
                        <a14:foregroundMark x1="5106" y1="46753" x2="1915" y2="46104"/>
                        <a14:foregroundMark x1="48085" y1="81818" x2="49362" y2="94805"/>
                        <a14:foregroundMark x1="95745" y1="27273" x2="83191" y2="46753"/>
                        <a14:foregroundMark x1="84894" y1="52597" x2="97660" y2="74675"/>
                        <a14:foregroundMark x1="71702" y1="74675" x2="68511" y2="85714"/>
                        <a14:foregroundMark x1="46596" y1="15584" x2="49149" y2="3896"/>
                        <a14:foregroundMark x1="51277" y1="20130" x2="50638" y2="7792"/>
                        <a14:foregroundMark x1="54894" y1="35714" x2="51702" y2="7792"/>
                        <a14:foregroundMark x1="56170" y1="33117" x2="52766" y2="12987"/>
                        <a14:foregroundMark x1="49787" y1="83117" x2="49574" y2="96104"/>
                        <a14:foregroundMark x1="46383" y1="87662" x2="48723" y2="96104"/>
                        <a14:foregroundMark x1="51064" y1="87013" x2="50426" y2="96104"/>
                        <a14:foregroundMark x1="43617" y1="81169" x2="47021" y2="89610"/>
                        <a14:foregroundMark x1="27447" y1="75325" x2="30000" y2="75974"/>
                        <a14:foregroundMark x1="18723" y1="72078" x2="20851" y2="73377"/>
                        <a14:foregroundMark x1="2766" y1="57792" x2="1277" y2="56494"/>
                        <a14:foregroundMark x1="1915" y1="44156" x2="213" y2="46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1" r="532"/>
          <a:stretch/>
        </p:blipFill>
        <p:spPr bwMode="auto">
          <a:xfrm flipH="1">
            <a:off x="1423851" y="5077118"/>
            <a:ext cx="1134158" cy="37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Graphic 24" descr="Wave with solid fill">
            <a:extLst>
              <a:ext uri="{FF2B5EF4-FFF2-40B4-BE49-F238E27FC236}">
                <a16:creationId xmlns:a16="http://schemas.microsoft.com/office/drawing/2014/main" id="{C58F3A38-AC71-E338-0993-52F48E5207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81845" y="65909"/>
            <a:ext cx="2222226" cy="222222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7C643D3-FF9C-F781-97E0-F515DDCFCA84}"/>
              </a:ext>
            </a:extLst>
          </p:cNvPr>
          <p:cNvSpPr/>
          <p:nvPr/>
        </p:nvSpPr>
        <p:spPr>
          <a:xfrm>
            <a:off x="6947571" y="2424284"/>
            <a:ext cx="1350074" cy="58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Age-1</a:t>
            </a:r>
          </a:p>
        </p:txBody>
      </p:sp>
      <p:pic>
        <p:nvPicPr>
          <p:cNvPr id="27" name="Picture 8" descr="Steelhead - Wild Salmon Center">
            <a:extLst>
              <a:ext uri="{FF2B5EF4-FFF2-40B4-BE49-F238E27FC236}">
                <a16:creationId xmlns:a16="http://schemas.microsoft.com/office/drawing/2014/main" id="{65D67C2E-EAC0-81C1-3C66-6960F90E7F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247" b="96104" l="213" r="97660">
                        <a14:foregroundMark x1="52979" y1="27273" x2="46596" y2="6494"/>
                        <a14:foregroundMark x1="45106" y1="17532" x2="55957" y2="25974"/>
                        <a14:foregroundMark x1="55957" y1="25974" x2="55957" y2="26623"/>
                        <a14:foregroundMark x1="9787" y1="44156" x2="4043" y2="43506"/>
                        <a14:foregroundMark x1="10213" y1="60390" x2="3617" y2="59740"/>
                        <a14:foregroundMark x1="5106" y1="46753" x2="1915" y2="46104"/>
                        <a14:foregroundMark x1="48085" y1="81818" x2="49362" y2="94805"/>
                        <a14:foregroundMark x1="95745" y1="27273" x2="83191" y2="46753"/>
                        <a14:foregroundMark x1="84894" y1="52597" x2="97660" y2="74675"/>
                        <a14:foregroundMark x1="71702" y1="74675" x2="68511" y2="85714"/>
                        <a14:foregroundMark x1="46596" y1="15584" x2="49149" y2="3896"/>
                        <a14:foregroundMark x1="51277" y1="20130" x2="50638" y2="7792"/>
                        <a14:foregroundMark x1="54894" y1="35714" x2="51702" y2="7792"/>
                        <a14:foregroundMark x1="56170" y1="33117" x2="52766" y2="12987"/>
                        <a14:foregroundMark x1="49787" y1="83117" x2="49574" y2="96104"/>
                        <a14:foregroundMark x1="46383" y1="87662" x2="48723" y2="96104"/>
                        <a14:foregroundMark x1="51064" y1="87013" x2="50426" y2="96104"/>
                        <a14:foregroundMark x1="43617" y1="81169" x2="47021" y2="89610"/>
                        <a14:foregroundMark x1="27447" y1="75325" x2="30000" y2="75974"/>
                        <a14:foregroundMark x1="18723" y1="72078" x2="20851" y2="73377"/>
                        <a14:foregroundMark x1="2766" y1="57792" x2="1277" y2="56494"/>
                        <a14:foregroundMark x1="1915" y1="44156" x2="213" y2="46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1" r="532"/>
          <a:stretch/>
        </p:blipFill>
        <p:spPr bwMode="auto">
          <a:xfrm flipH="1">
            <a:off x="7269150" y="2853565"/>
            <a:ext cx="706916" cy="233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1223DBC-6389-5635-FD0A-4A786D206878}"/>
              </a:ext>
            </a:extLst>
          </p:cNvPr>
          <p:cNvSpPr/>
          <p:nvPr/>
        </p:nvSpPr>
        <p:spPr>
          <a:xfrm>
            <a:off x="6947571" y="3516087"/>
            <a:ext cx="1350074" cy="58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Age-2</a:t>
            </a:r>
          </a:p>
        </p:txBody>
      </p:sp>
      <p:pic>
        <p:nvPicPr>
          <p:cNvPr id="29" name="Picture 8" descr="Steelhead - Wild Salmon Center">
            <a:extLst>
              <a:ext uri="{FF2B5EF4-FFF2-40B4-BE49-F238E27FC236}">
                <a16:creationId xmlns:a16="http://schemas.microsoft.com/office/drawing/2014/main" id="{6724F197-529F-BA8E-6185-7065A0B105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247" b="96104" l="213" r="97660">
                        <a14:foregroundMark x1="52979" y1="27273" x2="46596" y2="6494"/>
                        <a14:foregroundMark x1="45106" y1="17532" x2="55957" y2="25974"/>
                        <a14:foregroundMark x1="55957" y1="25974" x2="55957" y2="26623"/>
                        <a14:foregroundMark x1="9787" y1="44156" x2="4043" y2="43506"/>
                        <a14:foregroundMark x1="10213" y1="60390" x2="3617" y2="59740"/>
                        <a14:foregroundMark x1="5106" y1="46753" x2="1915" y2="46104"/>
                        <a14:foregroundMark x1="48085" y1="81818" x2="49362" y2="94805"/>
                        <a14:foregroundMark x1="95745" y1="27273" x2="83191" y2="46753"/>
                        <a14:foregroundMark x1="84894" y1="52597" x2="97660" y2="74675"/>
                        <a14:foregroundMark x1="71702" y1="74675" x2="68511" y2="85714"/>
                        <a14:foregroundMark x1="46596" y1="15584" x2="49149" y2="3896"/>
                        <a14:foregroundMark x1="51277" y1="20130" x2="50638" y2="7792"/>
                        <a14:foregroundMark x1="54894" y1="35714" x2="51702" y2="7792"/>
                        <a14:foregroundMark x1="56170" y1="33117" x2="52766" y2="12987"/>
                        <a14:foregroundMark x1="49787" y1="83117" x2="49574" y2="96104"/>
                        <a14:foregroundMark x1="46383" y1="87662" x2="48723" y2="96104"/>
                        <a14:foregroundMark x1="51064" y1="87013" x2="50426" y2="96104"/>
                        <a14:foregroundMark x1="43617" y1="81169" x2="47021" y2="89610"/>
                        <a14:foregroundMark x1="27447" y1="75325" x2="30000" y2="75974"/>
                        <a14:foregroundMark x1="18723" y1="72078" x2="20851" y2="73377"/>
                        <a14:foregroundMark x1="2766" y1="57792" x2="1277" y2="56494"/>
                        <a14:foregroundMark x1="1915" y1="44156" x2="213" y2="46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1" r="532"/>
          <a:stretch/>
        </p:blipFill>
        <p:spPr bwMode="auto">
          <a:xfrm flipH="1">
            <a:off x="7228242" y="3946004"/>
            <a:ext cx="917684" cy="30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EAD60FA-9228-5E30-7DC8-BD5F72B9F218}"/>
              </a:ext>
            </a:extLst>
          </p:cNvPr>
          <p:cNvSpPr/>
          <p:nvPr/>
        </p:nvSpPr>
        <p:spPr>
          <a:xfrm>
            <a:off x="6947571" y="4682913"/>
            <a:ext cx="1350074" cy="58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Age-3</a:t>
            </a:r>
          </a:p>
        </p:txBody>
      </p:sp>
      <p:pic>
        <p:nvPicPr>
          <p:cNvPr id="31" name="Picture 8" descr="Steelhead - Wild Salmon Center">
            <a:extLst>
              <a:ext uri="{FF2B5EF4-FFF2-40B4-BE49-F238E27FC236}">
                <a16:creationId xmlns:a16="http://schemas.microsoft.com/office/drawing/2014/main" id="{33D7F7FA-B1BD-7424-1DB8-A2A5F1C2CF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247" b="96104" l="213" r="97660">
                        <a14:foregroundMark x1="52979" y1="27273" x2="46596" y2="6494"/>
                        <a14:foregroundMark x1="45106" y1="17532" x2="55957" y2="25974"/>
                        <a14:foregroundMark x1="55957" y1="25974" x2="55957" y2="26623"/>
                        <a14:foregroundMark x1="9787" y1="44156" x2="4043" y2="43506"/>
                        <a14:foregroundMark x1="10213" y1="60390" x2="3617" y2="59740"/>
                        <a14:foregroundMark x1="5106" y1="46753" x2="1915" y2="46104"/>
                        <a14:foregroundMark x1="48085" y1="81818" x2="49362" y2="94805"/>
                        <a14:foregroundMark x1="95745" y1="27273" x2="83191" y2="46753"/>
                        <a14:foregroundMark x1="84894" y1="52597" x2="97660" y2="74675"/>
                        <a14:foregroundMark x1="71702" y1="74675" x2="68511" y2="85714"/>
                        <a14:foregroundMark x1="46596" y1="15584" x2="49149" y2="3896"/>
                        <a14:foregroundMark x1="51277" y1="20130" x2="50638" y2="7792"/>
                        <a14:foregroundMark x1="54894" y1="35714" x2="51702" y2="7792"/>
                        <a14:foregroundMark x1="56170" y1="33117" x2="52766" y2="12987"/>
                        <a14:foregroundMark x1="49787" y1="83117" x2="49574" y2="96104"/>
                        <a14:foregroundMark x1="46383" y1="87662" x2="48723" y2="96104"/>
                        <a14:foregroundMark x1="51064" y1="87013" x2="50426" y2="96104"/>
                        <a14:foregroundMark x1="43617" y1="81169" x2="47021" y2="89610"/>
                        <a14:foregroundMark x1="27447" y1="75325" x2="30000" y2="75974"/>
                        <a14:foregroundMark x1="18723" y1="72078" x2="20851" y2="73377"/>
                        <a14:foregroundMark x1="2766" y1="57792" x2="1277" y2="56494"/>
                        <a14:foregroundMark x1="1915" y1="44156" x2="213" y2="46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1" r="532"/>
          <a:stretch/>
        </p:blipFill>
        <p:spPr bwMode="auto">
          <a:xfrm flipH="1">
            <a:off x="7028565" y="5077118"/>
            <a:ext cx="1134158" cy="37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E8251AD7-02A0-0A31-89AA-FA9D65F8DBCE}"/>
              </a:ext>
            </a:extLst>
          </p:cNvPr>
          <p:cNvSpPr/>
          <p:nvPr/>
        </p:nvSpPr>
        <p:spPr>
          <a:xfrm>
            <a:off x="6943907" y="5845529"/>
            <a:ext cx="1350074" cy="58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Age-4</a:t>
            </a:r>
          </a:p>
        </p:txBody>
      </p:sp>
      <p:pic>
        <p:nvPicPr>
          <p:cNvPr id="33" name="Picture 8" descr="Steelhead - Wild Salmon Center">
            <a:extLst>
              <a:ext uri="{FF2B5EF4-FFF2-40B4-BE49-F238E27FC236}">
                <a16:creationId xmlns:a16="http://schemas.microsoft.com/office/drawing/2014/main" id="{1E0B93BC-5027-E3B5-A662-51B4DB3A3A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3247" b="96104" l="213" r="97660">
                        <a14:foregroundMark x1="52979" y1="27273" x2="46596" y2="6494"/>
                        <a14:foregroundMark x1="45106" y1="17532" x2="55957" y2="25974"/>
                        <a14:foregroundMark x1="55957" y1="25974" x2="55957" y2="26623"/>
                        <a14:foregroundMark x1="9787" y1="44156" x2="4043" y2="43506"/>
                        <a14:foregroundMark x1="10213" y1="60390" x2="3617" y2="59740"/>
                        <a14:foregroundMark x1="5106" y1="46753" x2="1915" y2="46104"/>
                        <a14:foregroundMark x1="48085" y1="81818" x2="49362" y2="94805"/>
                        <a14:foregroundMark x1="95745" y1="27273" x2="83191" y2="46753"/>
                        <a14:foregroundMark x1="84894" y1="52597" x2="97660" y2="74675"/>
                        <a14:foregroundMark x1="71702" y1="74675" x2="68511" y2="85714"/>
                        <a14:foregroundMark x1="46596" y1="15584" x2="49149" y2="3896"/>
                        <a14:foregroundMark x1="51277" y1="20130" x2="50638" y2="7792"/>
                        <a14:foregroundMark x1="54894" y1="35714" x2="51702" y2="7792"/>
                        <a14:foregroundMark x1="56170" y1="33117" x2="52766" y2="12987"/>
                        <a14:foregroundMark x1="49787" y1="83117" x2="49574" y2="96104"/>
                        <a14:foregroundMark x1="46383" y1="87662" x2="48723" y2="96104"/>
                        <a14:foregroundMark x1="51064" y1="87013" x2="50426" y2="96104"/>
                        <a14:foregroundMark x1="43617" y1="81169" x2="47021" y2="89610"/>
                        <a14:foregroundMark x1="27447" y1="75325" x2="30000" y2="75974"/>
                        <a14:foregroundMark x1="18723" y1="72078" x2="20851" y2="73377"/>
                        <a14:foregroundMark x1="2766" y1="57792" x2="1277" y2="56494"/>
                        <a14:foregroundMark x1="1915" y1="44156" x2="213" y2="461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1" r="532"/>
          <a:stretch/>
        </p:blipFill>
        <p:spPr bwMode="auto">
          <a:xfrm flipH="1">
            <a:off x="7024899" y="6267826"/>
            <a:ext cx="1269081" cy="41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1263D16-457D-F74E-F1F5-6A7AC961C07A}"/>
              </a:ext>
            </a:extLst>
          </p:cNvPr>
          <p:cNvCxnSpPr>
            <a:cxnSpLocks/>
            <a:stCxn id="16" idx="3"/>
            <a:endCxn id="26" idx="1"/>
          </p:cNvCxnSpPr>
          <p:nvPr/>
        </p:nvCxnSpPr>
        <p:spPr>
          <a:xfrm flipV="1">
            <a:off x="2692931" y="2714938"/>
            <a:ext cx="4254640" cy="5519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F95CC80-4FC2-D428-5CF9-2F4FA9802F0C}"/>
              </a:ext>
            </a:extLst>
          </p:cNvPr>
          <p:cNvCxnSpPr>
            <a:cxnSpLocks/>
            <a:stCxn id="21" idx="3"/>
            <a:endCxn id="28" idx="1"/>
          </p:cNvCxnSpPr>
          <p:nvPr/>
        </p:nvCxnSpPr>
        <p:spPr>
          <a:xfrm>
            <a:off x="2692931" y="3791665"/>
            <a:ext cx="4254640" cy="15076"/>
          </a:xfrm>
          <a:prstGeom prst="straightConnector1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505EB9A-A9F0-2CFC-F92D-F665E7B87EF4}"/>
              </a:ext>
            </a:extLst>
          </p:cNvPr>
          <p:cNvCxnSpPr>
            <a:cxnSpLocks/>
            <a:stCxn id="23" idx="3"/>
            <a:endCxn id="32" idx="1"/>
          </p:cNvCxnSpPr>
          <p:nvPr/>
        </p:nvCxnSpPr>
        <p:spPr>
          <a:xfrm>
            <a:off x="2692931" y="4969357"/>
            <a:ext cx="4250976" cy="1166826"/>
          </a:xfrm>
          <a:prstGeom prst="straightConnector1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14" descr="Steelhead Trout | NOAA Fisheries">
            <a:extLst>
              <a:ext uri="{FF2B5EF4-FFF2-40B4-BE49-F238E27FC236}">
                <a16:creationId xmlns:a16="http://schemas.microsoft.com/office/drawing/2014/main" id="{03864899-0858-C29D-6D1B-AFF6831D1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647719" y="3517116"/>
            <a:ext cx="2356352" cy="157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42203D6-9308-4BF7-AA87-6DBA2198BE5E}"/>
              </a:ext>
            </a:extLst>
          </p:cNvPr>
          <p:cNvCxnSpPr>
            <a:cxnSpLocks/>
            <a:stCxn id="16" idx="3"/>
            <a:endCxn id="28" idx="1"/>
          </p:cNvCxnSpPr>
          <p:nvPr/>
        </p:nvCxnSpPr>
        <p:spPr>
          <a:xfrm>
            <a:off x="2692931" y="2720457"/>
            <a:ext cx="4254640" cy="1086284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1A1318A-AC70-930A-1D11-885AE062191A}"/>
              </a:ext>
            </a:extLst>
          </p:cNvPr>
          <p:cNvCxnSpPr>
            <a:cxnSpLocks/>
            <a:stCxn id="16" idx="3"/>
            <a:endCxn id="30" idx="1"/>
          </p:cNvCxnSpPr>
          <p:nvPr/>
        </p:nvCxnSpPr>
        <p:spPr>
          <a:xfrm>
            <a:off x="2692931" y="2720457"/>
            <a:ext cx="4254640" cy="2253110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AD9610A-BAD8-9FCA-62A9-E0594AA0B154}"/>
              </a:ext>
            </a:extLst>
          </p:cNvPr>
          <p:cNvCxnSpPr>
            <a:cxnSpLocks/>
            <a:stCxn id="16" idx="3"/>
            <a:endCxn id="32" idx="1"/>
          </p:cNvCxnSpPr>
          <p:nvPr/>
        </p:nvCxnSpPr>
        <p:spPr>
          <a:xfrm>
            <a:off x="2692931" y="2720457"/>
            <a:ext cx="4250976" cy="3415726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1098DCA-E400-07E6-92AC-8B400D5AF140}"/>
              </a:ext>
            </a:extLst>
          </p:cNvPr>
          <p:cNvCxnSpPr>
            <a:cxnSpLocks/>
            <a:stCxn id="21" idx="3"/>
            <a:endCxn id="30" idx="1"/>
          </p:cNvCxnSpPr>
          <p:nvPr/>
        </p:nvCxnSpPr>
        <p:spPr>
          <a:xfrm>
            <a:off x="2692931" y="3791665"/>
            <a:ext cx="4254640" cy="1181902"/>
          </a:xfrm>
          <a:prstGeom prst="straightConnector1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292EB58-95A8-FF55-66D1-40890C94F861}"/>
              </a:ext>
            </a:extLst>
          </p:cNvPr>
          <p:cNvCxnSpPr>
            <a:cxnSpLocks/>
            <a:stCxn id="21" idx="3"/>
            <a:endCxn id="32" idx="1"/>
          </p:cNvCxnSpPr>
          <p:nvPr/>
        </p:nvCxnSpPr>
        <p:spPr>
          <a:xfrm>
            <a:off x="2692931" y="3791665"/>
            <a:ext cx="4250976" cy="2344518"/>
          </a:xfrm>
          <a:prstGeom prst="straightConnector1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4ACA9C4-B363-6D8A-8799-E8424813BC8D}"/>
              </a:ext>
            </a:extLst>
          </p:cNvPr>
          <p:cNvCxnSpPr>
            <a:cxnSpLocks/>
            <a:stCxn id="23" idx="3"/>
            <a:endCxn id="30" idx="1"/>
          </p:cNvCxnSpPr>
          <p:nvPr/>
        </p:nvCxnSpPr>
        <p:spPr>
          <a:xfrm>
            <a:off x="2692931" y="4969357"/>
            <a:ext cx="4254640" cy="4210"/>
          </a:xfrm>
          <a:prstGeom prst="straightConnector1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35537CA-AE12-FDEA-412C-2F127D563F6D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8297645" y="2714938"/>
            <a:ext cx="1394995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5B0339A-6D03-A778-35EA-5AEE0A812E16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8297645" y="3806741"/>
            <a:ext cx="1394995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B1E7C47-6A5E-BF19-792D-48DE92E52321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8297645" y="4973567"/>
            <a:ext cx="1394995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979300C-45D5-2324-9FA7-519BE6B09F14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293981" y="6136183"/>
            <a:ext cx="1398659" cy="32737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Picture 2" descr="Water dam - Free vector clipart images on creazilla.com">
            <a:extLst>
              <a:ext uri="{FF2B5EF4-FFF2-40B4-BE49-F238E27FC236}">
                <a16:creationId xmlns:a16="http://schemas.microsoft.com/office/drawing/2014/main" id="{801061D4-7C08-DB36-8C6E-4C48EA010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85503" y="65909"/>
            <a:ext cx="2603161" cy="1468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90547E3E-002F-56B4-B6F7-A4EDE167C10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756" t="29700" r="11444" b="24466"/>
          <a:stretch/>
        </p:blipFill>
        <p:spPr>
          <a:xfrm flipH="1">
            <a:off x="716314" y="323217"/>
            <a:ext cx="2603160" cy="1339617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  <a:softEdge rad="0"/>
          </a:effectLst>
        </p:spPr>
      </p:pic>
      <p:sp>
        <p:nvSpPr>
          <p:cNvPr id="2" name="Action Button: Help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88F33D0-EAFB-315C-3116-49C619C018E1}"/>
              </a:ext>
            </a:extLst>
          </p:cNvPr>
          <p:cNvSpPr/>
          <p:nvPr/>
        </p:nvSpPr>
        <p:spPr>
          <a:xfrm>
            <a:off x="113871" y="3457467"/>
            <a:ext cx="535258" cy="668395"/>
          </a:xfrm>
          <a:prstGeom prst="actionButtonHelp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F857CF-DAC2-E352-5EC3-967756D0517D}"/>
              </a:ext>
            </a:extLst>
          </p:cNvPr>
          <p:cNvCxnSpPr/>
          <p:nvPr/>
        </p:nvCxnSpPr>
        <p:spPr>
          <a:xfrm flipV="1">
            <a:off x="651125" y="3005592"/>
            <a:ext cx="530904" cy="42340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F571EA-9689-9809-351C-9D4DB614D94C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649129" y="3791664"/>
            <a:ext cx="465993" cy="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397045-C065-35AB-45BD-0964C7ECBD17}"/>
              </a:ext>
            </a:extLst>
          </p:cNvPr>
          <p:cNvCxnSpPr>
            <a:cxnSpLocks/>
          </p:cNvCxnSpPr>
          <p:nvPr/>
        </p:nvCxnSpPr>
        <p:spPr>
          <a:xfrm>
            <a:off x="647461" y="4154329"/>
            <a:ext cx="566275" cy="44740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50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  <p:bldP spid="23" grpId="0" animBg="1"/>
      <p:bldP spid="26" grpId="0" animBg="1"/>
      <p:bldP spid="28" grpId="0" animBg="1"/>
      <p:bldP spid="30" grpId="0" animBg="1"/>
      <p:bldP spid="32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064D1-CDB8-B31A-EC9A-A97AA953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BF91C-B0FF-D5BB-B98D-12FF4DCB0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592B6-CA0A-7F60-E2B7-94736B803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Mark-recapture model</a:t>
            </a:r>
          </a:p>
          <a:p>
            <a:r>
              <a:rPr lang="en-US" dirty="0"/>
              <a:t>Observed data likelihood (Hance et al. 2020)</a:t>
            </a:r>
          </a:p>
          <a:p>
            <a:r>
              <a:rPr lang="en-US" dirty="0"/>
              <a:t>Incorporates uncertainty in age using an age sub-model</a:t>
            </a:r>
          </a:p>
          <a:p>
            <a:r>
              <a:rPr lang="en-US" dirty="0"/>
              <a:t>Includes covariates via GLM (generalized linear models)</a:t>
            </a:r>
          </a:p>
          <a:p>
            <a:r>
              <a:rPr lang="en-US" dirty="0"/>
              <a:t>Bayesian (Stan)</a:t>
            </a:r>
          </a:p>
          <a:p>
            <a:r>
              <a:rPr lang="en-US" dirty="0"/>
              <a:t>Flexible generalizability to other systems</a:t>
            </a:r>
          </a:p>
        </p:txBody>
      </p:sp>
    </p:spTree>
    <p:extLst>
      <p:ext uri="{BB962C8B-B14F-4D97-AF65-F5344CB8AC3E}">
        <p14:creationId xmlns:p14="http://schemas.microsoft.com/office/powerpoint/2010/main" val="159741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27D27-D5B6-DEF1-D63C-D1C0E3052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17B69-BBFE-3FE2-B4C4-8E9F1AD92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9629"/>
            <a:ext cx="10424375" cy="7179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RST 				1</a:t>
            </a:r>
            <a:r>
              <a:rPr lang="en-US" baseline="30000" dirty="0"/>
              <a:t>st</a:t>
            </a:r>
            <a:r>
              <a:rPr lang="en-US" dirty="0"/>
              <a:t> dam				2</a:t>
            </a:r>
            <a:r>
              <a:rPr lang="en-US" baseline="30000" dirty="0"/>
              <a:t>nd</a:t>
            </a:r>
            <a:r>
              <a:rPr lang="en-US" dirty="0"/>
              <a:t> dam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BA45AF-A382-E9C8-C2D3-6E8FE86B4175}"/>
              </a:ext>
            </a:extLst>
          </p:cNvPr>
          <p:cNvSpPr/>
          <p:nvPr/>
        </p:nvSpPr>
        <p:spPr>
          <a:xfrm>
            <a:off x="966988" y="269427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345C3A-2388-B74B-2A0E-1DD4B4AE9FB4}"/>
              </a:ext>
            </a:extLst>
          </p:cNvPr>
          <p:cNvSpPr/>
          <p:nvPr/>
        </p:nvSpPr>
        <p:spPr>
          <a:xfrm>
            <a:off x="966988" y="505169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B0CBEC-1982-F03B-619A-428BC601C7DE}"/>
              </a:ext>
            </a:extLst>
          </p:cNvPr>
          <p:cNvSpPr/>
          <p:nvPr/>
        </p:nvSpPr>
        <p:spPr>
          <a:xfrm>
            <a:off x="968061" y="387298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EDBD02-9D47-3A64-6498-6C0EA49897DE}"/>
              </a:ext>
            </a:extLst>
          </p:cNvPr>
          <p:cNvCxnSpPr>
            <a:cxnSpLocks/>
            <a:stCxn id="5" idx="6"/>
            <a:endCxn id="21" idx="2"/>
          </p:cNvCxnSpPr>
          <p:nvPr/>
        </p:nvCxnSpPr>
        <p:spPr>
          <a:xfrm>
            <a:off x="1424188" y="2922873"/>
            <a:ext cx="3528811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A62D89-15DB-86AC-C8C1-C8E07ED03985}"/>
              </a:ext>
            </a:extLst>
          </p:cNvPr>
          <p:cNvCxnSpPr>
            <a:cxnSpLocks/>
            <a:stCxn id="8" idx="6"/>
            <a:endCxn id="22" idx="2"/>
          </p:cNvCxnSpPr>
          <p:nvPr/>
        </p:nvCxnSpPr>
        <p:spPr>
          <a:xfrm>
            <a:off x="1425261" y="4101583"/>
            <a:ext cx="3527738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CC504F-1C77-5BD3-BEBC-3CB5D9131FAF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1424188" y="5280293"/>
            <a:ext cx="3528811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3458852F-100A-6532-EDA7-D16EDAB278E3}"/>
              </a:ext>
            </a:extLst>
          </p:cNvPr>
          <p:cNvSpPr/>
          <p:nvPr/>
        </p:nvSpPr>
        <p:spPr>
          <a:xfrm>
            <a:off x="4952999" y="269427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A5E6875-C175-D545-4B01-CCE336EB16C3}"/>
              </a:ext>
            </a:extLst>
          </p:cNvPr>
          <p:cNvSpPr/>
          <p:nvPr/>
        </p:nvSpPr>
        <p:spPr>
          <a:xfrm>
            <a:off x="4952999" y="387298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37181A9-60A0-64D8-46DA-DFAC61F88560}"/>
              </a:ext>
            </a:extLst>
          </p:cNvPr>
          <p:cNvSpPr/>
          <p:nvPr/>
        </p:nvSpPr>
        <p:spPr>
          <a:xfrm>
            <a:off x="4952999" y="505169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A2B8246-B58D-EF03-AA19-2A3E5158DB91}"/>
              </a:ext>
            </a:extLst>
          </p:cNvPr>
          <p:cNvSpPr/>
          <p:nvPr/>
        </p:nvSpPr>
        <p:spPr>
          <a:xfrm>
            <a:off x="9540024" y="269427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4AE4485-BA09-6EB6-EF81-41B309D8EADD}"/>
              </a:ext>
            </a:extLst>
          </p:cNvPr>
          <p:cNvSpPr/>
          <p:nvPr/>
        </p:nvSpPr>
        <p:spPr>
          <a:xfrm>
            <a:off x="9540024" y="387298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FFE5B67-5681-91FC-60B1-D220AC637B76}"/>
              </a:ext>
            </a:extLst>
          </p:cNvPr>
          <p:cNvSpPr/>
          <p:nvPr/>
        </p:nvSpPr>
        <p:spPr>
          <a:xfrm>
            <a:off x="9540024" y="505169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2198660-4BC6-D75F-E3EC-056D1BF43BBE}"/>
              </a:ext>
            </a:extLst>
          </p:cNvPr>
          <p:cNvCxnSpPr>
            <a:cxnSpLocks/>
            <a:stCxn id="21" idx="6"/>
            <a:endCxn id="30" idx="2"/>
          </p:cNvCxnSpPr>
          <p:nvPr/>
        </p:nvCxnSpPr>
        <p:spPr>
          <a:xfrm>
            <a:off x="5410199" y="2922873"/>
            <a:ext cx="4129825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41EEA99-183D-F596-B94D-18E63018935E}"/>
              </a:ext>
            </a:extLst>
          </p:cNvPr>
          <p:cNvCxnSpPr>
            <a:cxnSpLocks/>
            <a:stCxn id="22" idx="6"/>
            <a:endCxn id="31" idx="2"/>
          </p:cNvCxnSpPr>
          <p:nvPr/>
        </p:nvCxnSpPr>
        <p:spPr>
          <a:xfrm>
            <a:off x="5410199" y="4101583"/>
            <a:ext cx="4129825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FA89733-7076-3485-AB22-136D67A05B3A}"/>
              </a:ext>
            </a:extLst>
          </p:cNvPr>
          <p:cNvCxnSpPr>
            <a:cxnSpLocks/>
            <a:stCxn id="23" idx="6"/>
            <a:endCxn id="32" idx="2"/>
          </p:cNvCxnSpPr>
          <p:nvPr/>
        </p:nvCxnSpPr>
        <p:spPr>
          <a:xfrm>
            <a:off x="5410199" y="5280293"/>
            <a:ext cx="4129825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Curved 87">
            <a:extLst>
              <a:ext uri="{FF2B5EF4-FFF2-40B4-BE49-F238E27FC236}">
                <a16:creationId xmlns:a16="http://schemas.microsoft.com/office/drawing/2014/main" id="{4A502E7A-035E-AF8C-3B96-3D49B5A51771}"/>
              </a:ext>
            </a:extLst>
          </p:cNvPr>
          <p:cNvCxnSpPr>
            <a:cxnSpLocks/>
          </p:cNvCxnSpPr>
          <p:nvPr/>
        </p:nvCxnSpPr>
        <p:spPr>
          <a:xfrm>
            <a:off x="1188565" y="992714"/>
            <a:ext cx="9483929" cy="603791"/>
          </a:xfrm>
          <a:prstGeom prst="curvedConnector3">
            <a:avLst/>
          </a:prstGeom>
          <a:ln w="3651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Picture 2" descr="LOST: - FISHBIO | Fisheries Consultants">
            <a:extLst>
              <a:ext uri="{FF2B5EF4-FFF2-40B4-BE49-F238E27FC236}">
                <a16:creationId xmlns:a16="http://schemas.microsoft.com/office/drawing/2014/main" id="{1EA05AD0-A9EE-6ACB-7FAD-745B57718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31147" y="441332"/>
            <a:ext cx="1376718" cy="103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7C584B-2F54-4803-3480-3CD3B1DB991A}"/>
              </a:ext>
            </a:extLst>
          </p:cNvPr>
          <p:cNvCxnSpPr>
            <a:cxnSpLocks/>
            <a:stCxn id="5" idx="6"/>
            <a:endCxn id="22" idx="2"/>
          </p:cNvCxnSpPr>
          <p:nvPr/>
        </p:nvCxnSpPr>
        <p:spPr>
          <a:xfrm>
            <a:off x="1424188" y="2922873"/>
            <a:ext cx="3528811" cy="117871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768F9D-B2F2-311C-3DB3-4585BD4A3BCA}"/>
              </a:ext>
            </a:extLst>
          </p:cNvPr>
          <p:cNvCxnSpPr>
            <a:cxnSpLocks/>
            <a:stCxn id="5" idx="6"/>
            <a:endCxn id="23" idx="2"/>
          </p:cNvCxnSpPr>
          <p:nvPr/>
        </p:nvCxnSpPr>
        <p:spPr>
          <a:xfrm>
            <a:off x="1424188" y="2922873"/>
            <a:ext cx="3528811" cy="235742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7426CB9-08A4-731B-AF49-E092C4A5AACD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1449543" y="4101582"/>
            <a:ext cx="3503456" cy="1178711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11EE2465-C503-888C-9686-A079C709B9D2}"/>
              </a:ext>
            </a:extLst>
          </p:cNvPr>
          <p:cNvSpPr/>
          <p:nvPr/>
        </p:nvSpPr>
        <p:spPr>
          <a:xfrm>
            <a:off x="10847032" y="1505064"/>
            <a:ext cx="182880" cy="182880"/>
          </a:xfrm>
          <a:prstGeom prst="ellipse">
            <a:avLst/>
          </a:prstGeom>
          <a:solidFill>
            <a:srgbClr val="C1E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BBAA454-E4CF-E79C-BF8C-0FD1F694968E}"/>
              </a:ext>
            </a:extLst>
          </p:cNvPr>
          <p:cNvSpPr/>
          <p:nvPr/>
        </p:nvSpPr>
        <p:spPr>
          <a:xfrm>
            <a:off x="11171135" y="1505064"/>
            <a:ext cx="182880" cy="182880"/>
          </a:xfrm>
          <a:prstGeom prst="ellipse">
            <a:avLst/>
          </a:prstGeom>
          <a:solidFill>
            <a:srgbClr val="C1E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9001496-5FB5-6DA6-61A0-76E1A08BB107}"/>
              </a:ext>
            </a:extLst>
          </p:cNvPr>
          <p:cNvSpPr/>
          <p:nvPr/>
        </p:nvSpPr>
        <p:spPr>
          <a:xfrm>
            <a:off x="11488413" y="1509954"/>
            <a:ext cx="182880" cy="182880"/>
          </a:xfrm>
          <a:prstGeom prst="ellipse">
            <a:avLst/>
          </a:prstGeom>
          <a:solidFill>
            <a:srgbClr val="C1E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Graphic 1" descr="Wave with solid fill">
            <a:extLst>
              <a:ext uri="{FF2B5EF4-FFF2-40B4-BE49-F238E27FC236}">
                <a16:creationId xmlns:a16="http://schemas.microsoft.com/office/drawing/2014/main" id="{159DB6A7-6988-005A-9531-F8D0410F3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71293" y="1277193"/>
            <a:ext cx="541134" cy="541134"/>
          </a:xfrm>
          <a:prstGeom prst="rect">
            <a:avLst/>
          </a:prstGeom>
        </p:spPr>
      </p:pic>
      <p:pic>
        <p:nvPicPr>
          <p:cNvPr id="4" name="Picture 2" descr="Water dam - Free vector clipart images on creazilla.com">
            <a:extLst>
              <a:ext uri="{FF2B5EF4-FFF2-40B4-BE49-F238E27FC236}">
                <a16:creationId xmlns:a16="http://schemas.microsoft.com/office/drawing/2014/main" id="{F75D06A6-748F-9681-E1DB-0BB9AAF55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36516" y="904896"/>
            <a:ext cx="806452" cy="45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Water dam - Free vector clipart images on creazilla.com">
            <a:extLst>
              <a:ext uri="{FF2B5EF4-FFF2-40B4-BE49-F238E27FC236}">
                <a16:creationId xmlns:a16="http://schemas.microsoft.com/office/drawing/2014/main" id="{67A0EC84-F962-60E2-B109-A48856C7F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53153" y="1303075"/>
            <a:ext cx="806452" cy="45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E7DD73B-6015-F527-449A-D6A3D44F9B07}"/>
              </a:ext>
            </a:extLst>
          </p:cNvPr>
          <p:cNvSpPr txBox="1">
            <a:spLocks/>
          </p:cNvSpPr>
          <p:nvPr/>
        </p:nvSpPr>
        <p:spPr>
          <a:xfrm rot="16200000">
            <a:off x="-210490" y="3696291"/>
            <a:ext cx="1346200" cy="717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 	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B73C73-AD73-8AD8-0CAD-03BB738EDCA0}"/>
              </a:ext>
            </a:extLst>
          </p:cNvPr>
          <p:cNvSpPr/>
          <p:nvPr/>
        </p:nvSpPr>
        <p:spPr>
          <a:xfrm>
            <a:off x="9550533" y="623040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B645609-68A4-EE64-A910-5605CBEBDFD0}"/>
              </a:ext>
            </a:extLst>
          </p:cNvPr>
          <p:cNvSpPr/>
          <p:nvPr/>
        </p:nvSpPr>
        <p:spPr>
          <a:xfrm>
            <a:off x="4963508" y="6230402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8892BD-66BB-8518-2B79-DAAC181D2195}"/>
              </a:ext>
            </a:extLst>
          </p:cNvPr>
          <p:cNvCxnSpPr>
            <a:cxnSpLocks/>
            <a:stCxn id="8" idx="6"/>
            <a:endCxn id="15" idx="2"/>
          </p:cNvCxnSpPr>
          <p:nvPr/>
        </p:nvCxnSpPr>
        <p:spPr>
          <a:xfrm>
            <a:off x="1425261" y="4101583"/>
            <a:ext cx="3538247" cy="2357419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B47289-479F-6E7C-3DCB-1327E8D16E46}"/>
              </a:ext>
            </a:extLst>
          </p:cNvPr>
          <p:cNvCxnSpPr>
            <a:cxnSpLocks/>
            <a:stCxn id="7" idx="6"/>
            <a:endCxn id="15" idx="2"/>
          </p:cNvCxnSpPr>
          <p:nvPr/>
        </p:nvCxnSpPr>
        <p:spPr>
          <a:xfrm>
            <a:off x="1424188" y="5280293"/>
            <a:ext cx="3539320" cy="1178709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BA961D2-5EFF-7762-F31E-495B10415ECE}"/>
              </a:ext>
            </a:extLst>
          </p:cNvPr>
          <p:cNvCxnSpPr>
            <a:cxnSpLocks/>
          </p:cNvCxnSpPr>
          <p:nvPr/>
        </p:nvCxnSpPr>
        <p:spPr>
          <a:xfrm>
            <a:off x="5420708" y="6459002"/>
            <a:ext cx="4129825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A9C6C1D-6A23-AD3D-3A7C-F17460FEE1FA}"/>
              </a:ext>
            </a:extLst>
          </p:cNvPr>
          <p:cNvCxnSpPr>
            <a:cxnSpLocks/>
            <a:stCxn id="5" idx="6"/>
            <a:endCxn id="15" idx="2"/>
          </p:cNvCxnSpPr>
          <p:nvPr/>
        </p:nvCxnSpPr>
        <p:spPr>
          <a:xfrm>
            <a:off x="1424188" y="2922873"/>
            <a:ext cx="3539320" cy="3536129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Funk, Radio System, Antenna Mast - Radio Antenna Clipart - Free Transparent  PNG Clipart Images Download">
            <a:extLst>
              <a:ext uri="{FF2B5EF4-FFF2-40B4-BE49-F238E27FC236}">
                <a16:creationId xmlns:a16="http://schemas.microsoft.com/office/drawing/2014/main" id="{2CDC9FD6-2401-0285-F73D-BE0A87B2F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6071" y1="28472" x2="35595" y2="29167"/>
                        <a14:foregroundMark x1="39881" y1="38194" x2="39286" y2="39444"/>
                        <a14:foregroundMark x1="44524" y1="44444" x2="44048" y2="44722"/>
                        <a14:foregroundMark x1="55714" y1="44167" x2="56071" y2="45000"/>
                        <a14:foregroundMark x1="59762" y1="37361" x2="60119" y2="38056"/>
                        <a14:foregroundMark x1="65714" y1="30139" x2="66190" y2="313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531" y="-123673"/>
            <a:ext cx="1282978" cy="109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Funk, Radio System, Antenna Mast - Radio Antenna Clipart - Free Transparent  PNG Clipart Images Download">
            <a:extLst>
              <a:ext uri="{FF2B5EF4-FFF2-40B4-BE49-F238E27FC236}">
                <a16:creationId xmlns:a16="http://schemas.microsoft.com/office/drawing/2014/main" id="{EFD2F1F6-220B-6273-EF0F-B175F874A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6071" y1="28472" x2="35595" y2="29167"/>
                        <a14:foregroundMark x1="39881" y1="38194" x2="39286" y2="39444"/>
                        <a14:foregroundMark x1="44524" y1="44444" x2="44048" y2="44722"/>
                        <a14:foregroundMark x1="55714" y1="44167" x2="56071" y2="45000"/>
                        <a14:foregroundMark x1="59762" y1="37361" x2="60119" y2="38056"/>
                        <a14:foregroundMark x1="65714" y1="30139" x2="66190" y2="313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427" y="287686"/>
            <a:ext cx="1282978" cy="109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11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30" grpId="0" animBg="1"/>
      <p:bldP spid="31" grpId="0" animBg="1"/>
      <p:bldP spid="32" grpId="0" animBg="1"/>
      <p:bldP spid="9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926F8-F108-CB21-F5C9-442C47519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B0B150F-2E06-E41B-A058-B35D6BBEDC73}"/>
              </a:ext>
            </a:extLst>
          </p:cNvPr>
          <p:cNvSpPr/>
          <p:nvPr/>
        </p:nvSpPr>
        <p:spPr>
          <a:xfrm>
            <a:off x="966988" y="268639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CEA87B-A4DB-A490-D968-84735D2CDB6C}"/>
              </a:ext>
            </a:extLst>
          </p:cNvPr>
          <p:cNvSpPr/>
          <p:nvPr/>
        </p:nvSpPr>
        <p:spPr>
          <a:xfrm>
            <a:off x="966988" y="504381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AF8254E-A517-E1D8-BD6C-3BF2D9AEF79D}"/>
              </a:ext>
            </a:extLst>
          </p:cNvPr>
          <p:cNvSpPr/>
          <p:nvPr/>
        </p:nvSpPr>
        <p:spPr>
          <a:xfrm>
            <a:off x="968061" y="386510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9036AC-D42B-1F2F-AAC4-FAFA437D09A9}"/>
              </a:ext>
            </a:extLst>
          </p:cNvPr>
          <p:cNvCxnSpPr>
            <a:cxnSpLocks/>
            <a:stCxn id="5" idx="6"/>
            <a:endCxn id="21" idx="2"/>
          </p:cNvCxnSpPr>
          <p:nvPr/>
        </p:nvCxnSpPr>
        <p:spPr>
          <a:xfrm>
            <a:off x="1424188" y="2914993"/>
            <a:ext cx="3528811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18B11C-9C6E-98BE-E7A3-8F26A3698E9B}"/>
              </a:ext>
            </a:extLst>
          </p:cNvPr>
          <p:cNvCxnSpPr>
            <a:cxnSpLocks/>
            <a:stCxn id="8" idx="6"/>
            <a:endCxn id="22" idx="2"/>
          </p:cNvCxnSpPr>
          <p:nvPr/>
        </p:nvCxnSpPr>
        <p:spPr>
          <a:xfrm>
            <a:off x="1425261" y="4093703"/>
            <a:ext cx="3527738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62F092-1471-277A-38B0-D50E6E9A7B8E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1424188" y="5272413"/>
            <a:ext cx="3528811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46B93566-5029-A4FC-0863-30D4EF6B9DB3}"/>
              </a:ext>
            </a:extLst>
          </p:cNvPr>
          <p:cNvSpPr/>
          <p:nvPr/>
        </p:nvSpPr>
        <p:spPr>
          <a:xfrm>
            <a:off x="4952999" y="268639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8286F77-8E95-AA67-5962-54175F4501B7}"/>
              </a:ext>
            </a:extLst>
          </p:cNvPr>
          <p:cNvSpPr/>
          <p:nvPr/>
        </p:nvSpPr>
        <p:spPr>
          <a:xfrm>
            <a:off x="4952999" y="386510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51CBB7C-5E0B-B065-428B-D99F3F06CAAF}"/>
              </a:ext>
            </a:extLst>
          </p:cNvPr>
          <p:cNvSpPr/>
          <p:nvPr/>
        </p:nvSpPr>
        <p:spPr>
          <a:xfrm>
            <a:off x="4952999" y="504381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E648711-4CF1-C3A0-3B36-E454D96389E6}"/>
              </a:ext>
            </a:extLst>
          </p:cNvPr>
          <p:cNvSpPr/>
          <p:nvPr/>
        </p:nvSpPr>
        <p:spPr>
          <a:xfrm>
            <a:off x="9540024" y="268639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5788427-6218-2039-7154-5F32052EEB3D}"/>
              </a:ext>
            </a:extLst>
          </p:cNvPr>
          <p:cNvSpPr/>
          <p:nvPr/>
        </p:nvSpPr>
        <p:spPr>
          <a:xfrm>
            <a:off x="9540024" y="386510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A9B14AC-4230-D12B-164B-E697FDAF47C4}"/>
              </a:ext>
            </a:extLst>
          </p:cNvPr>
          <p:cNvSpPr/>
          <p:nvPr/>
        </p:nvSpPr>
        <p:spPr>
          <a:xfrm>
            <a:off x="9540024" y="504381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5325A08-3DB9-A520-AAB1-D5F0EEAA9A14}"/>
              </a:ext>
            </a:extLst>
          </p:cNvPr>
          <p:cNvCxnSpPr>
            <a:cxnSpLocks/>
            <a:stCxn id="21" idx="6"/>
            <a:endCxn id="30" idx="2"/>
          </p:cNvCxnSpPr>
          <p:nvPr/>
        </p:nvCxnSpPr>
        <p:spPr>
          <a:xfrm>
            <a:off x="5410199" y="2914993"/>
            <a:ext cx="4129825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D1786A9-D5AF-6716-F482-7DDFA6C042C3}"/>
              </a:ext>
            </a:extLst>
          </p:cNvPr>
          <p:cNvCxnSpPr>
            <a:cxnSpLocks/>
            <a:stCxn id="22" idx="6"/>
            <a:endCxn id="31" idx="2"/>
          </p:cNvCxnSpPr>
          <p:nvPr/>
        </p:nvCxnSpPr>
        <p:spPr>
          <a:xfrm>
            <a:off x="5410199" y="4093703"/>
            <a:ext cx="4129825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1BA2A3F-709C-DCF0-F915-D7FF60869DC1}"/>
              </a:ext>
            </a:extLst>
          </p:cNvPr>
          <p:cNvCxnSpPr>
            <a:cxnSpLocks/>
            <a:stCxn id="23" idx="6"/>
            <a:endCxn id="32" idx="2"/>
          </p:cNvCxnSpPr>
          <p:nvPr/>
        </p:nvCxnSpPr>
        <p:spPr>
          <a:xfrm>
            <a:off x="5410199" y="5272413"/>
            <a:ext cx="4129825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Curved 87">
            <a:extLst>
              <a:ext uri="{FF2B5EF4-FFF2-40B4-BE49-F238E27FC236}">
                <a16:creationId xmlns:a16="http://schemas.microsoft.com/office/drawing/2014/main" id="{F63293AF-E663-D287-E131-204A8F6C7AC7}"/>
              </a:ext>
            </a:extLst>
          </p:cNvPr>
          <p:cNvCxnSpPr>
            <a:cxnSpLocks/>
          </p:cNvCxnSpPr>
          <p:nvPr/>
        </p:nvCxnSpPr>
        <p:spPr>
          <a:xfrm>
            <a:off x="1188565" y="992714"/>
            <a:ext cx="9483929" cy="603791"/>
          </a:xfrm>
          <a:prstGeom prst="curvedConnector3">
            <a:avLst/>
          </a:prstGeom>
          <a:ln w="3651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Picture 2" descr="LOST: - FISHBIO | Fisheries Consultants">
            <a:extLst>
              <a:ext uri="{FF2B5EF4-FFF2-40B4-BE49-F238E27FC236}">
                <a16:creationId xmlns:a16="http://schemas.microsoft.com/office/drawing/2014/main" id="{62011E7A-2899-6F2B-267D-3D9F676D3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31147" y="441332"/>
            <a:ext cx="1376718" cy="103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473BE6-3797-65BF-62C7-030C195E9463}"/>
              </a:ext>
            </a:extLst>
          </p:cNvPr>
          <p:cNvCxnSpPr>
            <a:cxnSpLocks/>
            <a:stCxn id="5" idx="6"/>
            <a:endCxn id="22" idx="2"/>
          </p:cNvCxnSpPr>
          <p:nvPr/>
        </p:nvCxnSpPr>
        <p:spPr>
          <a:xfrm>
            <a:off x="1424188" y="2914993"/>
            <a:ext cx="3528811" cy="117871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03D2890-8D77-A761-9CEE-3106755C8EFA}"/>
              </a:ext>
            </a:extLst>
          </p:cNvPr>
          <p:cNvCxnSpPr>
            <a:cxnSpLocks/>
            <a:stCxn id="5" idx="6"/>
            <a:endCxn id="23" idx="2"/>
          </p:cNvCxnSpPr>
          <p:nvPr/>
        </p:nvCxnSpPr>
        <p:spPr>
          <a:xfrm>
            <a:off x="1424188" y="2914993"/>
            <a:ext cx="3528811" cy="235742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2326286-7415-FD5F-BF84-A83BBAD64B52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1449543" y="4093702"/>
            <a:ext cx="3503456" cy="1178711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F291CE0E-60BD-9B0C-2B8E-2041BCA97D42}"/>
              </a:ext>
            </a:extLst>
          </p:cNvPr>
          <p:cNvSpPr/>
          <p:nvPr/>
        </p:nvSpPr>
        <p:spPr>
          <a:xfrm>
            <a:off x="10847032" y="1505064"/>
            <a:ext cx="182880" cy="182880"/>
          </a:xfrm>
          <a:prstGeom prst="ellipse">
            <a:avLst/>
          </a:prstGeom>
          <a:solidFill>
            <a:srgbClr val="C1E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4783DD8-0393-DEBC-8916-254BFD94041D}"/>
              </a:ext>
            </a:extLst>
          </p:cNvPr>
          <p:cNvSpPr/>
          <p:nvPr/>
        </p:nvSpPr>
        <p:spPr>
          <a:xfrm>
            <a:off x="11171135" y="1505064"/>
            <a:ext cx="182880" cy="182880"/>
          </a:xfrm>
          <a:prstGeom prst="ellipse">
            <a:avLst/>
          </a:prstGeom>
          <a:solidFill>
            <a:srgbClr val="C1E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4A31DC6-A251-ABAD-4327-F937645D2138}"/>
              </a:ext>
            </a:extLst>
          </p:cNvPr>
          <p:cNvSpPr/>
          <p:nvPr/>
        </p:nvSpPr>
        <p:spPr>
          <a:xfrm>
            <a:off x="11488413" y="1509954"/>
            <a:ext cx="182880" cy="182880"/>
          </a:xfrm>
          <a:prstGeom prst="ellipse">
            <a:avLst/>
          </a:prstGeom>
          <a:solidFill>
            <a:srgbClr val="C1E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4B5BEC-D12D-8324-CF18-13F4F33AD43D}"/>
              </a:ext>
            </a:extLst>
          </p:cNvPr>
          <p:cNvCxnSpPr>
            <a:cxnSpLocks/>
          </p:cNvCxnSpPr>
          <p:nvPr/>
        </p:nvCxnSpPr>
        <p:spPr>
          <a:xfrm>
            <a:off x="5410199" y="3967243"/>
            <a:ext cx="4129825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3A0F27-9600-302F-0767-AF0E8EC6C47E}"/>
              </a:ext>
            </a:extLst>
          </p:cNvPr>
          <p:cNvCxnSpPr>
            <a:cxnSpLocks/>
          </p:cNvCxnSpPr>
          <p:nvPr/>
        </p:nvCxnSpPr>
        <p:spPr>
          <a:xfrm>
            <a:off x="5410199" y="5150775"/>
            <a:ext cx="4129825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3D66F0-13C7-AE2A-5A52-3D3E55953556}"/>
              </a:ext>
            </a:extLst>
          </p:cNvPr>
          <p:cNvCxnSpPr>
            <a:cxnSpLocks/>
          </p:cNvCxnSpPr>
          <p:nvPr/>
        </p:nvCxnSpPr>
        <p:spPr>
          <a:xfrm>
            <a:off x="5410199" y="5405472"/>
            <a:ext cx="4129825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 descr="Wave with solid fill">
            <a:extLst>
              <a:ext uri="{FF2B5EF4-FFF2-40B4-BE49-F238E27FC236}">
                <a16:creationId xmlns:a16="http://schemas.microsoft.com/office/drawing/2014/main" id="{255B5995-F43A-1AF7-26CE-C568A14844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71293" y="1277193"/>
            <a:ext cx="541134" cy="541134"/>
          </a:xfrm>
          <a:prstGeom prst="rect">
            <a:avLst/>
          </a:prstGeom>
        </p:spPr>
      </p:pic>
      <p:pic>
        <p:nvPicPr>
          <p:cNvPr id="4" name="Picture 2" descr="Water dam - Free vector clipart images on creazilla.com">
            <a:extLst>
              <a:ext uri="{FF2B5EF4-FFF2-40B4-BE49-F238E27FC236}">
                <a16:creationId xmlns:a16="http://schemas.microsoft.com/office/drawing/2014/main" id="{FFE9EEF0-CA83-6C77-BB27-6221F62A1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36516" y="904896"/>
            <a:ext cx="806452" cy="45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Water dam - Free vector clipart images on creazilla.com">
            <a:extLst>
              <a:ext uri="{FF2B5EF4-FFF2-40B4-BE49-F238E27FC236}">
                <a16:creationId xmlns:a16="http://schemas.microsoft.com/office/drawing/2014/main" id="{FB12B65D-CA23-8E18-CF2C-42F39620B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53153" y="1303075"/>
            <a:ext cx="806452" cy="454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1716F72-53BB-52AC-E665-18632EC7865C}"/>
              </a:ext>
            </a:extLst>
          </p:cNvPr>
          <p:cNvSpPr txBox="1">
            <a:spLocks/>
          </p:cNvSpPr>
          <p:nvPr/>
        </p:nvSpPr>
        <p:spPr>
          <a:xfrm rot="16200000">
            <a:off x="-210490" y="3696291"/>
            <a:ext cx="1346200" cy="717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 	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40849D7-1032-DF8B-2BA1-77D40F799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9629"/>
            <a:ext cx="10424375" cy="7179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RST 				1</a:t>
            </a:r>
            <a:r>
              <a:rPr lang="en-US" baseline="30000" dirty="0"/>
              <a:t>st</a:t>
            </a:r>
            <a:r>
              <a:rPr lang="en-US" dirty="0"/>
              <a:t> dam				2</a:t>
            </a:r>
            <a:r>
              <a:rPr lang="en-US" baseline="30000" dirty="0"/>
              <a:t>nd</a:t>
            </a:r>
            <a:r>
              <a:rPr lang="en-US" dirty="0"/>
              <a:t> dam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19897F4-57E3-90B0-7991-5E517F461533}"/>
              </a:ext>
            </a:extLst>
          </p:cNvPr>
          <p:cNvSpPr/>
          <p:nvPr/>
        </p:nvSpPr>
        <p:spPr>
          <a:xfrm>
            <a:off x="9550533" y="6230403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5A7E669-774E-5B2E-ED25-63F70694B577}"/>
              </a:ext>
            </a:extLst>
          </p:cNvPr>
          <p:cNvSpPr/>
          <p:nvPr/>
        </p:nvSpPr>
        <p:spPr>
          <a:xfrm>
            <a:off x="4963508" y="6230402"/>
            <a:ext cx="457200" cy="4572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4AD859A-71F1-093E-8C5F-6A1F54CBAD08}"/>
              </a:ext>
            </a:extLst>
          </p:cNvPr>
          <p:cNvCxnSpPr>
            <a:cxnSpLocks/>
          </p:cNvCxnSpPr>
          <p:nvPr/>
        </p:nvCxnSpPr>
        <p:spPr>
          <a:xfrm>
            <a:off x="5420708" y="6459002"/>
            <a:ext cx="4129825" cy="0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4B4DC1-26A0-43E4-9C04-4E4A72324C9C}"/>
              </a:ext>
            </a:extLst>
          </p:cNvPr>
          <p:cNvCxnSpPr>
            <a:cxnSpLocks/>
            <a:stCxn id="5" idx="6"/>
            <a:endCxn id="24" idx="2"/>
          </p:cNvCxnSpPr>
          <p:nvPr/>
        </p:nvCxnSpPr>
        <p:spPr>
          <a:xfrm>
            <a:off x="1424188" y="2914993"/>
            <a:ext cx="3539320" cy="3544009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5FABFD-ED9D-03CF-B575-9BB1B8D4F31D}"/>
              </a:ext>
            </a:extLst>
          </p:cNvPr>
          <p:cNvCxnSpPr>
            <a:cxnSpLocks/>
            <a:stCxn id="8" idx="6"/>
            <a:endCxn id="24" idx="2"/>
          </p:cNvCxnSpPr>
          <p:nvPr/>
        </p:nvCxnSpPr>
        <p:spPr>
          <a:xfrm>
            <a:off x="1425261" y="4093703"/>
            <a:ext cx="3538247" cy="2365299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648A981-6E62-A590-5E34-9E844E30CD4A}"/>
              </a:ext>
            </a:extLst>
          </p:cNvPr>
          <p:cNvCxnSpPr>
            <a:cxnSpLocks/>
            <a:stCxn id="7" idx="6"/>
            <a:endCxn id="24" idx="2"/>
          </p:cNvCxnSpPr>
          <p:nvPr/>
        </p:nvCxnSpPr>
        <p:spPr>
          <a:xfrm>
            <a:off x="1424188" y="5272413"/>
            <a:ext cx="3539320" cy="1186589"/>
          </a:xfrm>
          <a:prstGeom prst="straightConnector1">
            <a:avLst/>
          </a:prstGeom>
          <a:ln w="381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FCA597-D7A8-BE62-1809-CE150A0E239C}"/>
                  </a:ext>
                </a:extLst>
              </p:cNvPr>
              <p:cNvSpPr txBox="1"/>
              <p:nvPr/>
            </p:nvSpPr>
            <p:spPr>
              <a:xfrm>
                <a:off x="2890814" y="2443321"/>
                <a:ext cx="31045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1−1</m:t>
                          </m:r>
                        </m:sub>
                      </m:sSub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FCA597-D7A8-BE62-1809-CE150A0E2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814" y="2443321"/>
                <a:ext cx="310457" cy="523220"/>
              </a:xfrm>
              <a:prstGeom prst="rect">
                <a:avLst/>
              </a:prstGeom>
              <a:blipFill>
                <a:blip r:embed="rId7"/>
                <a:stretch>
                  <a:fillRect r="-14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6DDE83-3407-EDC2-B659-64482646BE40}"/>
                  </a:ext>
                </a:extLst>
              </p:cNvPr>
              <p:cNvSpPr txBox="1"/>
              <p:nvPr/>
            </p:nvSpPr>
            <p:spPr>
              <a:xfrm>
                <a:off x="1625924" y="3621616"/>
                <a:ext cx="2682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2−2</m:t>
                          </m:r>
                        </m:sub>
                      </m:sSub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6DDE83-3407-EDC2-B659-64482646B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924" y="3621616"/>
                <a:ext cx="268275" cy="523220"/>
              </a:xfrm>
              <a:prstGeom prst="rect">
                <a:avLst/>
              </a:prstGeom>
              <a:blipFill>
                <a:blip r:embed="rId8"/>
                <a:stretch>
                  <a:fillRect r="-179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A754D86-5072-8803-3B5E-ED6AA5B7890B}"/>
                  </a:ext>
                </a:extLst>
              </p:cNvPr>
              <p:cNvSpPr txBox="1"/>
              <p:nvPr/>
            </p:nvSpPr>
            <p:spPr>
              <a:xfrm>
                <a:off x="1915291" y="4785144"/>
                <a:ext cx="2682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3−3</m:t>
                          </m:r>
                        </m:sub>
                      </m:sSub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A754D86-5072-8803-3B5E-ED6AA5B78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291" y="4785144"/>
                <a:ext cx="268275" cy="523220"/>
              </a:xfrm>
              <a:prstGeom prst="rect">
                <a:avLst/>
              </a:prstGeom>
              <a:blipFill>
                <a:blip r:embed="rId9"/>
                <a:stretch>
                  <a:fillRect r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F5A2680-8F7F-F595-CB92-88A185144FBF}"/>
                  </a:ext>
                </a:extLst>
              </p:cNvPr>
              <p:cNvSpPr txBox="1"/>
              <p:nvPr/>
            </p:nvSpPr>
            <p:spPr>
              <a:xfrm>
                <a:off x="6281411" y="-14245"/>
                <a:ext cx="60741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Age-1 survival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1−1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1−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1−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1−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E9713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F5A2680-8F7F-F595-CB92-88A185144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411" y="-14245"/>
                <a:ext cx="6074140" cy="400110"/>
              </a:xfrm>
              <a:prstGeom prst="rect">
                <a:avLst/>
              </a:prstGeom>
              <a:blipFill>
                <a:blip r:embed="rId10"/>
                <a:stretch>
                  <a:fillRect l="-1003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C3E678D-2E42-4465-BEDE-93D4DF815E10}"/>
                  </a:ext>
                </a:extLst>
              </p:cNvPr>
              <p:cNvSpPr txBox="1"/>
              <p:nvPr/>
            </p:nvSpPr>
            <p:spPr>
              <a:xfrm>
                <a:off x="6291920" y="333536"/>
                <a:ext cx="537937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Age-2 survival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02B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02B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02B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2−2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02B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02B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02B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2−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02B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02B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A02B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2−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C3E678D-2E42-4465-BEDE-93D4DF815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920" y="333536"/>
                <a:ext cx="5379373" cy="400110"/>
              </a:xfrm>
              <a:prstGeom prst="rect">
                <a:avLst/>
              </a:prstGeom>
              <a:blipFill>
                <a:blip r:embed="rId11"/>
                <a:stretch>
                  <a:fillRect l="-1133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783E671-BDC5-3228-911F-72E6EC5EE5CA}"/>
                  </a:ext>
                </a:extLst>
              </p:cNvPr>
              <p:cNvSpPr txBox="1"/>
              <p:nvPr/>
            </p:nvSpPr>
            <p:spPr>
              <a:xfrm>
                <a:off x="6291919" y="669512"/>
                <a:ext cx="32586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Age-3 survival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3−3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3−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783E671-BDC5-3228-911F-72E6EC5EE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919" y="669512"/>
                <a:ext cx="3258613" cy="400110"/>
              </a:xfrm>
              <a:prstGeom prst="rect">
                <a:avLst/>
              </a:prstGeom>
              <a:blipFill>
                <a:blip r:embed="rId12"/>
                <a:stretch>
                  <a:fillRect l="-1869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9E1D20E6-BA8A-900F-962E-AD375445E03E}"/>
              </a:ext>
            </a:extLst>
          </p:cNvPr>
          <p:cNvSpPr txBox="1"/>
          <p:nvPr/>
        </p:nvSpPr>
        <p:spPr>
          <a:xfrm>
            <a:off x="5018730" y="3062720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45CC71-383D-A6F6-C17B-10F2B878B9F8}"/>
              </a:ext>
            </a:extLst>
          </p:cNvPr>
          <p:cNvSpPr txBox="1"/>
          <p:nvPr/>
        </p:nvSpPr>
        <p:spPr>
          <a:xfrm>
            <a:off x="4995154" y="4243316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59A556-1F29-95D7-4A58-C7B26300DFAC}"/>
              </a:ext>
            </a:extLst>
          </p:cNvPr>
          <p:cNvSpPr txBox="1"/>
          <p:nvPr/>
        </p:nvSpPr>
        <p:spPr>
          <a:xfrm>
            <a:off x="4995838" y="5415930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38F795-983D-6199-5BC6-A4CDE7467066}"/>
              </a:ext>
            </a:extLst>
          </p:cNvPr>
          <p:cNvSpPr txBox="1"/>
          <p:nvPr/>
        </p:nvSpPr>
        <p:spPr>
          <a:xfrm>
            <a:off x="5337510" y="6425992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4DBB6C-FC09-C8C0-EB38-6425921D7397}"/>
              </a:ext>
            </a:extLst>
          </p:cNvPr>
          <p:cNvSpPr txBox="1"/>
          <p:nvPr/>
        </p:nvSpPr>
        <p:spPr>
          <a:xfrm>
            <a:off x="9605755" y="3040705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AC4ACE-180A-D61B-2DD6-0A3A262F6512}"/>
              </a:ext>
            </a:extLst>
          </p:cNvPr>
          <p:cNvSpPr txBox="1"/>
          <p:nvPr/>
        </p:nvSpPr>
        <p:spPr>
          <a:xfrm>
            <a:off x="9601017" y="4204307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F79FA3-7F02-6771-A164-CB43E2D90059}"/>
              </a:ext>
            </a:extLst>
          </p:cNvPr>
          <p:cNvSpPr txBox="1"/>
          <p:nvPr/>
        </p:nvSpPr>
        <p:spPr>
          <a:xfrm>
            <a:off x="9627779" y="5412809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7A1B02-6957-EA82-1BEE-1F4AF34F6BF5}"/>
              </a:ext>
            </a:extLst>
          </p:cNvPr>
          <p:cNvSpPr txBox="1"/>
          <p:nvPr/>
        </p:nvSpPr>
        <p:spPr>
          <a:xfrm>
            <a:off x="9924535" y="6403809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1C6D12-DCAB-000B-A251-A550B3E2334C}"/>
              </a:ext>
            </a:extLst>
          </p:cNvPr>
          <p:cNvSpPr txBox="1"/>
          <p:nvPr/>
        </p:nvSpPr>
        <p:spPr>
          <a:xfrm>
            <a:off x="7352749" y="2476790"/>
            <a:ext cx="310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θ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FC3450B-EB40-82D9-B09D-098DEF206730}"/>
              </a:ext>
            </a:extLst>
          </p:cNvPr>
          <p:cNvSpPr txBox="1"/>
          <p:nvPr/>
        </p:nvSpPr>
        <p:spPr>
          <a:xfrm>
            <a:off x="7387676" y="3611373"/>
            <a:ext cx="310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θ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FEE0D14-5916-418C-4EF6-467EC04BF1C5}"/>
              </a:ext>
            </a:extLst>
          </p:cNvPr>
          <p:cNvSpPr txBox="1"/>
          <p:nvPr/>
        </p:nvSpPr>
        <p:spPr>
          <a:xfrm>
            <a:off x="7387675" y="4830972"/>
            <a:ext cx="310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θ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057995-8299-6469-D6C4-E7133EF4F427}"/>
              </a:ext>
            </a:extLst>
          </p:cNvPr>
          <p:cNvSpPr txBox="1"/>
          <p:nvPr/>
        </p:nvSpPr>
        <p:spPr>
          <a:xfrm>
            <a:off x="7387675" y="5983998"/>
            <a:ext cx="310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8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θ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E8E8E8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64BE070-759E-1CAF-CA2C-6B6F6D615DAB}"/>
                  </a:ext>
                </a:extLst>
              </p:cNvPr>
              <p:cNvSpPr txBox="1"/>
              <p:nvPr/>
            </p:nvSpPr>
            <p:spPr>
              <a:xfrm>
                <a:off x="3347640" y="3163415"/>
                <a:ext cx="31045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1−2</m:t>
                          </m:r>
                        </m:sub>
                      </m:sSub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64BE070-759E-1CAF-CA2C-6B6F6D615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640" y="3163415"/>
                <a:ext cx="310457" cy="523220"/>
              </a:xfrm>
              <a:prstGeom prst="rect">
                <a:avLst/>
              </a:prstGeom>
              <a:blipFill>
                <a:blip r:embed="rId15"/>
                <a:stretch>
                  <a:fillRect r="-14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1B163DB-B8F1-AD23-1937-E2F9097124AD}"/>
                  </a:ext>
                </a:extLst>
              </p:cNvPr>
              <p:cNvSpPr txBox="1"/>
              <p:nvPr/>
            </p:nvSpPr>
            <p:spPr>
              <a:xfrm>
                <a:off x="2525336" y="3271169"/>
                <a:ext cx="31045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1−3</m:t>
                          </m:r>
                        </m:sub>
                      </m:sSub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1B163DB-B8F1-AD23-1937-E2F909712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336" y="3271169"/>
                <a:ext cx="310457" cy="523220"/>
              </a:xfrm>
              <a:prstGeom prst="rect">
                <a:avLst/>
              </a:prstGeom>
              <a:blipFill>
                <a:blip r:embed="rId16"/>
                <a:stretch>
                  <a:fillRect r="-14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CF9F484-406E-1246-DE27-969D86C18BDC}"/>
                  </a:ext>
                </a:extLst>
              </p:cNvPr>
              <p:cNvSpPr txBox="1"/>
              <p:nvPr/>
            </p:nvSpPr>
            <p:spPr>
              <a:xfrm>
                <a:off x="2370108" y="3584025"/>
                <a:ext cx="31045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9713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1−4</m:t>
                          </m:r>
                        </m:sub>
                      </m:sSub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CF9F484-406E-1246-DE27-969D86C18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108" y="3584025"/>
                <a:ext cx="310457" cy="523220"/>
              </a:xfrm>
              <a:prstGeom prst="rect">
                <a:avLst/>
              </a:prstGeom>
              <a:blipFill>
                <a:blip r:embed="rId17"/>
                <a:stretch>
                  <a:fillRect r="-143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4DA3701-288C-4A2E-F88B-A30CA73B4317}"/>
                  </a:ext>
                </a:extLst>
              </p:cNvPr>
              <p:cNvSpPr txBox="1"/>
              <p:nvPr/>
            </p:nvSpPr>
            <p:spPr>
              <a:xfrm>
                <a:off x="3113042" y="4261924"/>
                <a:ext cx="28605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2−3</m:t>
                          </m:r>
                        </m:sub>
                      </m:sSub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4DA3701-288C-4A2E-F88B-A30CA73B4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042" y="4261924"/>
                <a:ext cx="286055" cy="523220"/>
              </a:xfrm>
              <a:prstGeom prst="rect">
                <a:avLst/>
              </a:prstGeom>
              <a:blipFill>
                <a:blip r:embed="rId18"/>
                <a:stretch>
                  <a:fillRect r="-161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41CB0BC-3090-5920-4A44-C4851F240D28}"/>
                  </a:ext>
                </a:extLst>
              </p:cNvPr>
              <p:cNvSpPr txBox="1"/>
              <p:nvPr/>
            </p:nvSpPr>
            <p:spPr>
              <a:xfrm>
                <a:off x="2611771" y="4540916"/>
                <a:ext cx="2682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A02B93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2−4</m:t>
                          </m:r>
                        </m:sub>
                      </m:sSub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A02B93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41CB0BC-3090-5920-4A44-C4851F240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771" y="4540916"/>
                <a:ext cx="268275" cy="523220"/>
              </a:xfrm>
              <a:prstGeom prst="rect">
                <a:avLst/>
              </a:prstGeom>
              <a:blipFill>
                <a:blip r:embed="rId19"/>
                <a:stretch>
                  <a:fillRect r="-18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F380ACD-0323-EEC5-04D3-7165153B352C}"/>
                  </a:ext>
                </a:extLst>
              </p:cNvPr>
              <p:cNvSpPr txBox="1"/>
              <p:nvPr/>
            </p:nvSpPr>
            <p:spPr>
              <a:xfrm>
                <a:off x="2786154" y="5338547"/>
                <a:ext cx="2682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3−4</m:t>
                          </m:r>
                        </m:sub>
                      </m:sSub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F380ACD-0323-EEC5-04D3-7165153B3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154" y="5338547"/>
                <a:ext cx="268275" cy="523220"/>
              </a:xfrm>
              <a:prstGeom prst="rect">
                <a:avLst/>
              </a:prstGeom>
              <a:blipFill>
                <a:blip r:embed="rId20"/>
                <a:stretch>
                  <a:fillRect r="-18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88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A02B93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A02B93"/>
                                      </p:to>
                                    </p:animClr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A02B93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/>
      <p:bldP spid="38" grpId="0"/>
      <p:bldP spid="41" grpId="0"/>
      <p:bldP spid="42" grpId="0"/>
      <p:bldP spid="43" grpId="0"/>
      <p:bldP spid="60" grpId="0"/>
      <p:bldP spid="61" grpId="0"/>
      <p:bldP spid="62" grpId="0"/>
      <p:bldP spid="63" grpId="0"/>
      <p:bldP spid="48" grpId="0"/>
      <p:bldP spid="64" grpId="0"/>
      <p:bldP spid="65" grpId="0"/>
      <p:bldP spid="66" grpId="0"/>
      <p:bldP spid="67" grpId="0"/>
      <p:bldP spid="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106F-E4A5-0E60-FAA4-5B2C631C8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35295-D2B0-953D-6C12-E50CFA4BE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capture where fish are tagged (individually identifiable)</a:t>
            </a:r>
          </a:p>
          <a:p>
            <a:endParaRPr lang="en-US" dirty="0"/>
          </a:p>
          <a:p>
            <a:r>
              <a:rPr lang="en-US" dirty="0"/>
              <a:t>At least two downstream recapture sites (i.e. PIT array)</a:t>
            </a:r>
          </a:p>
          <a:p>
            <a:endParaRPr lang="en-US" dirty="0"/>
          </a:p>
          <a:p>
            <a:r>
              <a:rPr lang="en-US" dirty="0"/>
              <a:t>Auxiliary info on all fish (i.e. fork length)</a:t>
            </a:r>
          </a:p>
          <a:p>
            <a:endParaRPr lang="en-US" dirty="0"/>
          </a:p>
          <a:p>
            <a:r>
              <a:rPr lang="en-US" dirty="0"/>
              <a:t>Ages for some fish</a:t>
            </a:r>
          </a:p>
        </p:txBody>
      </p:sp>
    </p:spTree>
    <p:extLst>
      <p:ext uri="{BB962C8B-B14F-4D97-AF65-F5344CB8AC3E}">
        <p14:creationId xmlns:p14="http://schemas.microsoft.com/office/powerpoint/2010/main" val="141719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BF3E-895B-029A-69BF-4A2196996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738" y="365125"/>
            <a:ext cx="4390293" cy="1345101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Using space4time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C13990-C902-456F-6325-61312305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15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613578-5D56-EDAF-4CBC-518F3F10FEC3}"/>
              </a:ext>
            </a:extLst>
          </p:cNvPr>
          <p:cNvSpPr/>
          <p:nvPr/>
        </p:nvSpPr>
        <p:spPr>
          <a:xfrm>
            <a:off x="6225848" y="1414847"/>
            <a:ext cx="2406432" cy="12382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Define site configuration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linear_s4t_config()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simplebranch_s4t_config()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s4t_config()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4C96DB-4EB3-E4FF-2CE5-83996411CD8E}"/>
              </a:ext>
            </a:extLst>
          </p:cNvPr>
          <p:cNvSpPr/>
          <p:nvPr/>
        </p:nvSpPr>
        <p:spPr>
          <a:xfrm>
            <a:off x="3460094" y="1954706"/>
            <a:ext cx="1933466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Age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ageclass</a:t>
            </a: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obs_time</a:t>
            </a: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obs_site</a:t>
            </a: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… optional variables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142AE7-CF3A-C4AC-AE4A-FEEF57AFA0ED}"/>
              </a:ext>
            </a:extLst>
          </p:cNvPr>
          <p:cNvSpPr/>
          <p:nvPr/>
        </p:nvSpPr>
        <p:spPr>
          <a:xfrm>
            <a:off x="3460094" y="4101661"/>
            <a:ext cx="1933466" cy="1238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Capture history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removed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23DEF2-8C0E-AA80-A747-50161ADBBD42}"/>
              </a:ext>
            </a:extLst>
          </p:cNvPr>
          <p:cNvSpPr/>
          <p:nvPr/>
        </p:nvSpPr>
        <p:spPr>
          <a:xfrm>
            <a:off x="6411311" y="3482536"/>
            <a:ext cx="2129657" cy="1238250"/>
          </a:xfrm>
          <a:prstGeom prst="roundRect">
            <a:avLst>
              <a:gd name="adj" fmla="val 1412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Capture history object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s4t_ch()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5BA419-2F06-D5D4-C6E8-369E67754473}"/>
              </a:ext>
            </a:extLst>
          </p:cNvPr>
          <p:cNvSpPr/>
          <p:nvPr/>
        </p:nvSpPr>
        <p:spPr>
          <a:xfrm>
            <a:off x="9574925" y="1883542"/>
            <a:ext cx="2261476" cy="12382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Fit </a:t>
            </a:r>
            <a:r>
              <a:rPr lang="en-US" sz="1400" b="1" dirty="0" err="1">
                <a:solidFill>
                  <a:schemeClr val="tx1"/>
                </a:solidFill>
              </a:rPr>
              <a:t>ageclass</a:t>
            </a:r>
            <a:r>
              <a:rPr lang="en-US" sz="1400" b="1" dirty="0">
                <a:solidFill>
                  <a:schemeClr val="tx1"/>
                </a:solidFill>
              </a:rPr>
              <a:t> only model</a:t>
            </a:r>
          </a:p>
          <a:p>
            <a:pPr algn="ctr"/>
            <a:r>
              <a:rPr lang="en-US" sz="1400" i="1" dirty="0" err="1">
                <a:solidFill>
                  <a:schemeClr val="tx1"/>
                </a:solidFill>
              </a:rPr>
              <a:t>fit_ageclass</a:t>
            </a:r>
            <a:r>
              <a:rPr lang="en-US" sz="1400" i="1" dirty="0">
                <a:solidFill>
                  <a:schemeClr val="tx1"/>
                </a:solidFill>
              </a:rPr>
              <a:t>()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90F13C-4478-ED91-42A6-AE0E456FD053}"/>
              </a:ext>
            </a:extLst>
          </p:cNvPr>
          <p:cNvSpPr/>
          <p:nvPr/>
        </p:nvSpPr>
        <p:spPr>
          <a:xfrm>
            <a:off x="9706743" y="4097063"/>
            <a:ext cx="2129658" cy="12382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Fit full mark-recapture model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fit_s4t_cjs_rstan()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fit_s4t_cjs_ml()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2EB798-5A91-B081-CB02-CDFB619C1944}"/>
              </a:ext>
            </a:extLst>
          </p:cNvPr>
          <p:cNvSpPr/>
          <p:nvPr/>
        </p:nvSpPr>
        <p:spPr>
          <a:xfrm>
            <a:off x="607411" y="4095091"/>
            <a:ext cx="1933467" cy="12382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Use DART query</a:t>
            </a:r>
          </a:p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lang="en-US" sz="1400" i="1" dirty="0" err="1">
                <a:solidFill>
                  <a:schemeClr val="tx1"/>
                </a:solidFill>
              </a:rPr>
              <a:t>read_DART_file</a:t>
            </a:r>
            <a:r>
              <a:rPr lang="en-US" sz="1400" i="1" dirty="0">
                <a:solidFill>
                  <a:schemeClr val="tx1"/>
                </a:solidFill>
              </a:rPr>
              <a:t>()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CF61C3-53EF-175A-0FBF-9F70AC4C9FD6}"/>
              </a:ext>
            </a:extLst>
          </p:cNvPr>
          <p:cNvSpPr/>
          <p:nvPr/>
        </p:nvSpPr>
        <p:spPr>
          <a:xfrm>
            <a:off x="837763" y="2283483"/>
            <a:ext cx="1810845" cy="4871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DART Basin </a:t>
            </a:r>
            <a:r>
              <a:rPr lang="en-US" sz="1200" b="1" dirty="0" err="1">
                <a:solidFill>
                  <a:schemeClr val="tx1"/>
                </a:solidFill>
              </a:rPr>
              <a:t>TribPit</a:t>
            </a:r>
            <a:r>
              <a:rPr lang="en-US" sz="1200" b="1" dirty="0">
                <a:solidFill>
                  <a:schemeClr val="tx1"/>
                </a:solidFill>
              </a:rPr>
              <a:t> Query Results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F10B9E-19FF-B0E2-06D2-688847C17BC6}"/>
              </a:ext>
            </a:extLst>
          </p:cNvPr>
          <p:cNvSpPr/>
          <p:nvPr/>
        </p:nvSpPr>
        <p:spPr>
          <a:xfrm>
            <a:off x="6411311" y="5157622"/>
            <a:ext cx="2129657" cy="1238250"/>
          </a:xfrm>
          <a:prstGeom prst="roundRect">
            <a:avLst>
              <a:gd name="adj" fmla="val 1412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Clean capture history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clean_s4t_ch_obs()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7AEE032-7F87-F8C3-8651-60197105DC1F}"/>
              </a:ext>
            </a:extLst>
          </p:cNvPr>
          <p:cNvSpPr/>
          <p:nvPr/>
        </p:nvSpPr>
        <p:spPr>
          <a:xfrm rot="5400000">
            <a:off x="1313136" y="3298223"/>
            <a:ext cx="860096" cy="27589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DCF879A-8102-9FAB-AA5B-A3CF2C32CA42}"/>
              </a:ext>
            </a:extLst>
          </p:cNvPr>
          <p:cNvSpPr/>
          <p:nvPr/>
        </p:nvSpPr>
        <p:spPr>
          <a:xfrm>
            <a:off x="2676636" y="4576267"/>
            <a:ext cx="647699" cy="27589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73050AD-33B6-67ED-B5F5-87686E47D73B}"/>
              </a:ext>
            </a:extLst>
          </p:cNvPr>
          <p:cNvSpPr/>
          <p:nvPr/>
        </p:nvSpPr>
        <p:spPr>
          <a:xfrm rot="1764374">
            <a:off x="5556569" y="3298222"/>
            <a:ext cx="647699" cy="27589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40A0082-9F77-9C93-6D51-EE4AAD51E24B}"/>
              </a:ext>
            </a:extLst>
          </p:cNvPr>
          <p:cNvSpPr/>
          <p:nvPr/>
        </p:nvSpPr>
        <p:spPr>
          <a:xfrm rot="5400000">
            <a:off x="7160393" y="2929868"/>
            <a:ext cx="647699" cy="27589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A49F4B4-539A-FE93-688B-E587C76FD2B7}"/>
              </a:ext>
            </a:extLst>
          </p:cNvPr>
          <p:cNvSpPr/>
          <p:nvPr/>
        </p:nvSpPr>
        <p:spPr>
          <a:xfrm rot="20683440">
            <a:off x="5599497" y="4219919"/>
            <a:ext cx="647699" cy="27589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E1144C6-82F8-7AB6-A133-5F6137B3BD52}"/>
              </a:ext>
            </a:extLst>
          </p:cNvPr>
          <p:cNvSpPr/>
          <p:nvPr/>
        </p:nvSpPr>
        <p:spPr>
          <a:xfrm rot="19576589">
            <a:off x="8681927" y="3099980"/>
            <a:ext cx="647699" cy="27589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8BFFCD3-5B33-8259-2535-26E9FC43DD29}"/>
              </a:ext>
            </a:extLst>
          </p:cNvPr>
          <p:cNvSpPr/>
          <p:nvPr/>
        </p:nvSpPr>
        <p:spPr>
          <a:xfrm rot="1165728">
            <a:off x="8853433" y="4219918"/>
            <a:ext cx="647699" cy="27589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Curved Left 21">
            <a:extLst>
              <a:ext uri="{FF2B5EF4-FFF2-40B4-BE49-F238E27FC236}">
                <a16:creationId xmlns:a16="http://schemas.microsoft.com/office/drawing/2014/main" id="{6A3F1894-96D8-4FB6-98C1-A0E86613E3B5}"/>
              </a:ext>
            </a:extLst>
          </p:cNvPr>
          <p:cNvSpPr/>
          <p:nvPr/>
        </p:nvSpPr>
        <p:spPr>
          <a:xfrm>
            <a:off x="8575655" y="4576267"/>
            <a:ext cx="494773" cy="768350"/>
          </a:xfrm>
          <a:prstGeom prst="curvedLef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Curved Left 22">
            <a:extLst>
              <a:ext uri="{FF2B5EF4-FFF2-40B4-BE49-F238E27FC236}">
                <a16:creationId xmlns:a16="http://schemas.microsoft.com/office/drawing/2014/main" id="{C8D13601-4863-D134-DD7D-184F6D5ADB4E}"/>
              </a:ext>
            </a:extLst>
          </p:cNvPr>
          <p:cNvSpPr/>
          <p:nvPr/>
        </p:nvSpPr>
        <p:spPr>
          <a:xfrm rot="10800000">
            <a:off x="5818333" y="4555136"/>
            <a:ext cx="494773" cy="768350"/>
          </a:xfrm>
          <a:prstGeom prst="curvedLef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FD1FD2-4712-CF01-B372-BE1FA37DED89}"/>
              </a:ext>
            </a:extLst>
          </p:cNvPr>
          <p:cNvCxnSpPr/>
          <p:nvPr/>
        </p:nvCxnSpPr>
        <p:spPr>
          <a:xfrm flipV="1">
            <a:off x="5530561" y="2186152"/>
            <a:ext cx="535158" cy="23122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A9F5226-B0FF-B8E4-DB40-6BA0AF4AE738}"/>
              </a:ext>
            </a:extLst>
          </p:cNvPr>
          <p:cNvCxnSpPr>
            <a:cxnSpLocks/>
          </p:cNvCxnSpPr>
          <p:nvPr/>
        </p:nvCxnSpPr>
        <p:spPr>
          <a:xfrm>
            <a:off x="10705663" y="3308460"/>
            <a:ext cx="0" cy="619451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C76A2A96-0C46-E1E3-43DB-5CEF466B204A}"/>
              </a:ext>
            </a:extLst>
          </p:cNvPr>
          <p:cNvSpPr/>
          <p:nvPr/>
        </p:nvSpPr>
        <p:spPr>
          <a:xfrm>
            <a:off x="419538" y="393813"/>
            <a:ext cx="647699" cy="27589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901002-925C-4B5D-9D54-0981134BEE67}"/>
              </a:ext>
            </a:extLst>
          </p:cNvPr>
          <p:cNvSpPr/>
          <p:nvPr/>
        </p:nvSpPr>
        <p:spPr>
          <a:xfrm>
            <a:off x="268669" y="208239"/>
            <a:ext cx="2253813" cy="12382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49EB5D-21F5-0DC8-B049-349BB1C58E1E}"/>
              </a:ext>
            </a:extLst>
          </p:cNvPr>
          <p:cNvSpPr txBox="1"/>
          <p:nvPr/>
        </p:nvSpPr>
        <p:spPr>
          <a:xfrm>
            <a:off x="1216082" y="249879"/>
            <a:ext cx="135601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</a:t>
            </a:r>
            <a:r>
              <a:rPr lang="en-US" sz="1600" dirty="0"/>
              <a:t>direct (used for…)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C10F2F-E15B-D0BE-5C09-4205EEC91356}"/>
              </a:ext>
            </a:extLst>
          </p:cNvPr>
          <p:cNvCxnSpPr>
            <a:cxnSpLocks/>
          </p:cNvCxnSpPr>
          <p:nvPr/>
        </p:nvCxnSpPr>
        <p:spPr>
          <a:xfrm>
            <a:off x="513693" y="1070668"/>
            <a:ext cx="455010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62428AE-6607-01AE-7616-3DC48D00506E}"/>
              </a:ext>
            </a:extLst>
          </p:cNvPr>
          <p:cNvSpPr txBox="1"/>
          <p:nvPr/>
        </p:nvSpPr>
        <p:spPr>
          <a:xfrm>
            <a:off x="1217829" y="827364"/>
            <a:ext cx="1170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= indirect (informs)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D3191B-C069-F694-3981-59DD454FC029}"/>
              </a:ext>
            </a:extLst>
          </p:cNvPr>
          <p:cNvSpPr txBox="1"/>
          <p:nvPr/>
        </p:nvSpPr>
        <p:spPr>
          <a:xfrm>
            <a:off x="4338491" y="212944"/>
            <a:ext cx="351507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i="1"/>
              <a:t>space4time </a:t>
            </a:r>
            <a:r>
              <a:rPr lang="en-US" sz="2800"/>
              <a:t>workflow</a:t>
            </a:r>
            <a:endParaRPr lang="en-US" sz="28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3577111-2F63-7993-426C-6BFA7E8DBB68}"/>
              </a:ext>
            </a:extLst>
          </p:cNvPr>
          <p:cNvSpPr/>
          <p:nvPr/>
        </p:nvSpPr>
        <p:spPr>
          <a:xfrm>
            <a:off x="391252" y="1678071"/>
            <a:ext cx="2967142" cy="4115019"/>
          </a:xfrm>
          <a:prstGeom prst="roundRect">
            <a:avLst/>
          </a:prstGeom>
          <a:noFill/>
          <a:ln w="28575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F05356-3B2E-D385-E9E1-87FD6FD8DC5D}"/>
              </a:ext>
            </a:extLst>
          </p:cNvPr>
          <p:cNvSpPr txBox="1"/>
          <p:nvPr/>
        </p:nvSpPr>
        <p:spPr>
          <a:xfrm>
            <a:off x="1076564" y="1774360"/>
            <a:ext cx="1810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Optional workflow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9E27716-F57E-031C-CBC3-D461D6DF8ECD}"/>
              </a:ext>
            </a:extLst>
          </p:cNvPr>
          <p:cNvCxnSpPr>
            <a:cxnSpLocks/>
          </p:cNvCxnSpPr>
          <p:nvPr/>
        </p:nvCxnSpPr>
        <p:spPr>
          <a:xfrm flipV="1">
            <a:off x="5473624" y="2671568"/>
            <a:ext cx="752224" cy="1256343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609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FFCF6F-ECAF-BCED-201C-985B779F2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BBC6FD8-6943-FB7E-224B-71B744094DAC}"/>
              </a:ext>
            </a:extLst>
          </p:cNvPr>
          <p:cNvSpPr/>
          <p:nvPr/>
        </p:nvSpPr>
        <p:spPr>
          <a:xfrm>
            <a:off x="273437" y="173889"/>
            <a:ext cx="2253813" cy="12382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4592E4-C0BA-E363-BF74-0A410CEF70EA}"/>
              </a:ext>
            </a:extLst>
          </p:cNvPr>
          <p:cNvSpPr txBox="1"/>
          <p:nvPr/>
        </p:nvSpPr>
        <p:spPr>
          <a:xfrm>
            <a:off x="1216082" y="249879"/>
            <a:ext cx="135601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</a:t>
            </a:r>
            <a:r>
              <a:rPr lang="en-US" sz="1600" dirty="0"/>
              <a:t>direct transition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5F70DEB-4E58-B9DE-F10A-E1C59795F57B}"/>
              </a:ext>
            </a:extLst>
          </p:cNvPr>
          <p:cNvCxnSpPr>
            <a:cxnSpLocks/>
          </p:cNvCxnSpPr>
          <p:nvPr/>
        </p:nvCxnSpPr>
        <p:spPr>
          <a:xfrm>
            <a:off x="491359" y="987972"/>
            <a:ext cx="559675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D15A541-06BB-4ACE-70BB-699737455990}"/>
              </a:ext>
            </a:extLst>
          </p:cNvPr>
          <p:cNvSpPr txBox="1"/>
          <p:nvPr/>
        </p:nvSpPr>
        <p:spPr>
          <a:xfrm>
            <a:off x="1217829" y="827364"/>
            <a:ext cx="1170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= direct or holdover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27CB63-6C98-03D2-F02D-7FDA85B5F4AD}"/>
              </a:ext>
            </a:extLst>
          </p:cNvPr>
          <p:cNvSpPr txBox="1"/>
          <p:nvPr/>
        </p:nvSpPr>
        <p:spPr>
          <a:xfrm>
            <a:off x="4427437" y="82060"/>
            <a:ext cx="2879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Capture history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6F6962E-7EA2-6962-C0F3-6846E5CC9DEC}"/>
              </a:ext>
            </a:extLst>
          </p:cNvPr>
          <p:cNvSpPr/>
          <p:nvPr/>
        </p:nvSpPr>
        <p:spPr>
          <a:xfrm>
            <a:off x="792917" y="3400167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BA6597-3DD4-8529-9BD1-F5B5E3F8875B}"/>
              </a:ext>
            </a:extLst>
          </p:cNvPr>
          <p:cNvSpPr/>
          <p:nvPr/>
        </p:nvSpPr>
        <p:spPr>
          <a:xfrm>
            <a:off x="792917" y="4731229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128125-4EA8-C011-6E88-DF9DF7B49C12}"/>
              </a:ext>
            </a:extLst>
          </p:cNvPr>
          <p:cNvSpPr/>
          <p:nvPr/>
        </p:nvSpPr>
        <p:spPr>
          <a:xfrm>
            <a:off x="3047386" y="4057063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42EE1B-C8E5-1A98-0CDD-2631D3E0D470}"/>
              </a:ext>
            </a:extLst>
          </p:cNvPr>
          <p:cNvSpPr/>
          <p:nvPr/>
        </p:nvSpPr>
        <p:spPr>
          <a:xfrm>
            <a:off x="4929352" y="4057063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F11A52-01F2-BFD8-B8DD-55B8A0001419}"/>
              </a:ext>
            </a:extLst>
          </p:cNvPr>
          <p:cNvSpPr/>
          <p:nvPr/>
        </p:nvSpPr>
        <p:spPr>
          <a:xfrm>
            <a:off x="6714010" y="4057063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1CBE1D-DEA3-C056-3D02-10F259A9D334}"/>
              </a:ext>
            </a:extLst>
          </p:cNvPr>
          <p:cNvCxnSpPr>
            <a:cxnSpLocks/>
            <a:stCxn id="2" idx="6"/>
            <a:endCxn id="5" idx="1"/>
          </p:cNvCxnSpPr>
          <p:nvPr/>
        </p:nvCxnSpPr>
        <p:spPr>
          <a:xfrm>
            <a:off x="1341557" y="3674487"/>
            <a:ext cx="1786175" cy="46292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B8BF879-BCCA-E50D-C198-07C5B4FB04C1}"/>
              </a:ext>
            </a:extLst>
          </p:cNvPr>
          <p:cNvCxnSpPr>
            <a:cxnSpLocks/>
            <a:stCxn id="3" idx="6"/>
            <a:endCxn id="5" idx="3"/>
          </p:cNvCxnSpPr>
          <p:nvPr/>
        </p:nvCxnSpPr>
        <p:spPr>
          <a:xfrm flipV="1">
            <a:off x="1341557" y="4525357"/>
            <a:ext cx="1786175" cy="48019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C8716F9-963C-F32B-4A55-4ED5C7BD2D04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3596026" y="4331383"/>
            <a:ext cx="1333326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232A962-9332-DCA9-7878-D24A95A51FAB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5477992" y="4331383"/>
            <a:ext cx="1236018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C37051D-20D7-04E1-33BE-53F16F846B1C}"/>
              </a:ext>
            </a:extLst>
          </p:cNvPr>
          <p:cNvCxnSpPr>
            <a:cxnSpLocks/>
          </p:cNvCxnSpPr>
          <p:nvPr/>
        </p:nvCxnSpPr>
        <p:spPr>
          <a:xfrm>
            <a:off x="411217" y="458324"/>
            <a:ext cx="639817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E4B155-C40E-8A58-FB51-EFF2FF8D5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631925"/>
              </p:ext>
            </p:extLst>
          </p:nvPr>
        </p:nvGraphicFramePr>
        <p:xfrm>
          <a:off x="7942848" y="1142069"/>
          <a:ext cx="3975715" cy="19125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36402">
                  <a:extLst>
                    <a:ext uri="{9D8B030D-6E8A-4147-A177-3AD203B41FA5}">
                      <a16:colId xmlns:a16="http://schemas.microsoft.com/office/drawing/2014/main" val="1147253131"/>
                    </a:ext>
                  </a:extLst>
                </a:gridCol>
                <a:gridCol w="936402">
                  <a:extLst>
                    <a:ext uri="{9D8B030D-6E8A-4147-A177-3AD203B41FA5}">
                      <a16:colId xmlns:a16="http://schemas.microsoft.com/office/drawing/2014/main" val="1913627433"/>
                    </a:ext>
                  </a:extLst>
                </a:gridCol>
                <a:gridCol w="936402">
                  <a:extLst>
                    <a:ext uri="{9D8B030D-6E8A-4147-A177-3AD203B41FA5}">
                      <a16:colId xmlns:a16="http://schemas.microsoft.com/office/drawing/2014/main" val="3023732881"/>
                    </a:ext>
                  </a:extLst>
                </a:gridCol>
                <a:gridCol w="1166509">
                  <a:extLst>
                    <a:ext uri="{9D8B030D-6E8A-4147-A177-3AD203B41FA5}">
                      <a16:colId xmlns:a16="http://schemas.microsoft.com/office/drawing/2014/main" val="2100530609"/>
                    </a:ext>
                  </a:extLst>
                </a:gridCol>
              </a:tblGrid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909613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354455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332261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840584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39160"/>
                  </a:ext>
                </a:extLst>
              </a:tr>
            </a:tbl>
          </a:graphicData>
        </a:graphic>
      </p:graphicFrame>
      <p:pic>
        <p:nvPicPr>
          <p:cNvPr id="9" name="Graphic 8" descr="Fish with solid fill">
            <a:extLst>
              <a:ext uri="{FF2B5EF4-FFF2-40B4-BE49-F238E27FC236}">
                <a16:creationId xmlns:a16="http://schemas.microsoft.com/office/drawing/2014/main" id="{0C125B6A-B06D-DD64-6500-6A94978DF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349" y="2607224"/>
            <a:ext cx="821776" cy="82177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E8681DE-063C-C576-419B-69087598DCA6}"/>
              </a:ext>
            </a:extLst>
          </p:cNvPr>
          <p:cNvCxnSpPr>
            <a:cxnSpLocks/>
          </p:cNvCxnSpPr>
          <p:nvPr/>
        </p:nvCxnSpPr>
        <p:spPr>
          <a:xfrm>
            <a:off x="1484698" y="3183513"/>
            <a:ext cx="1302699" cy="49097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Fish with solid fill">
            <a:extLst>
              <a:ext uri="{FF2B5EF4-FFF2-40B4-BE49-F238E27FC236}">
                <a16:creationId xmlns:a16="http://schemas.microsoft.com/office/drawing/2014/main" id="{70C7FA02-220B-3251-0E41-C4D9CF1EC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3965" y="3286539"/>
            <a:ext cx="821776" cy="821776"/>
          </a:xfrm>
          <a:prstGeom prst="rect">
            <a:avLst/>
          </a:prstGeom>
        </p:spPr>
      </p:pic>
      <p:pic>
        <p:nvPicPr>
          <p:cNvPr id="13" name="Graphic 12" descr="Fish with solid fill">
            <a:extLst>
              <a:ext uri="{FF2B5EF4-FFF2-40B4-BE49-F238E27FC236}">
                <a16:creationId xmlns:a16="http://schemas.microsoft.com/office/drawing/2014/main" id="{53039BD1-E930-04C7-B863-E3B17602C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2784" y="3263599"/>
            <a:ext cx="821776" cy="821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8FBC07-9411-025E-F30A-C23789F63346}"/>
              </a:ext>
            </a:extLst>
          </p:cNvPr>
          <p:cNvCxnSpPr>
            <a:cxnSpLocks/>
          </p:cNvCxnSpPr>
          <p:nvPr/>
        </p:nvCxnSpPr>
        <p:spPr>
          <a:xfrm flipV="1">
            <a:off x="3812940" y="3683592"/>
            <a:ext cx="897200" cy="13835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5BFAB4D-5687-548D-5681-83F53008B60D}"/>
              </a:ext>
            </a:extLst>
          </p:cNvPr>
          <p:cNvSpPr txBox="1"/>
          <p:nvPr/>
        </p:nvSpPr>
        <p:spPr>
          <a:xfrm>
            <a:off x="350399" y="2181123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ID: 1</a:t>
            </a:r>
          </a:p>
          <a:p>
            <a:r>
              <a:rPr lang="en-US" dirty="0"/>
              <a:t>Released in 2010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8E6445-3D61-2959-2316-0F1D33377E79}"/>
              </a:ext>
            </a:extLst>
          </p:cNvPr>
          <p:cNvSpPr txBox="1"/>
          <p:nvPr/>
        </p:nvSpPr>
        <p:spPr>
          <a:xfrm>
            <a:off x="2532283" y="2778265"/>
            <a:ext cx="1356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Recaptured in 2011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A023F1-AD7E-FBA4-D970-36E88C4F0A26}"/>
              </a:ext>
            </a:extLst>
          </p:cNvPr>
          <p:cNvSpPr txBox="1"/>
          <p:nvPr/>
        </p:nvSpPr>
        <p:spPr>
          <a:xfrm>
            <a:off x="4626126" y="2770589"/>
            <a:ext cx="1356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Recaptured in 2011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FE7AD8-46F0-61ED-3847-B7EF60D44915}"/>
              </a:ext>
            </a:extLst>
          </p:cNvPr>
          <p:cNvSpPr txBox="1"/>
          <p:nvPr/>
        </p:nvSpPr>
        <p:spPr>
          <a:xfrm>
            <a:off x="6226766" y="2770588"/>
            <a:ext cx="1523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observed again</a:t>
            </a:r>
          </a:p>
        </p:txBody>
      </p:sp>
    </p:spTree>
    <p:extLst>
      <p:ext uri="{BB962C8B-B14F-4D97-AF65-F5344CB8AC3E}">
        <p14:creationId xmlns:p14="http://schemas.microsoft.com/office/powerpoint/2010/main" val="882404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9E7E8-FA2D-4CA1-BF62-3E9B7429A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83BEEBB-AE95-B4D3-4645-4AED4DCEB7BE}"/>
              </a:ext>
            </a:extLst>
          </p:cNvPr>
          <p:cNvSpPr/>
          <p:nvPr/>
        </p:nvSpPr>
        <p:spPr>
          <a:xfrm>
            <a:off x="273437" y="173889"/>
            <a:ext cx="2253813" cy="12382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4BFDA1-B88E-85E4-A95E-A1FE408FA80B}"/>
              </a:ext>
            </a:extLst>
          </p:cNvPr>
          <p:cNvSpPr txBox="1"/>
          <p:nvPr/>
        </p:nvSpPr>
        <p:spPr>
          <a:xfrm>
            <a:off x="1216082" y="249879"/>
            <a:ext cx="135601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</a:t>
            </a:r>
            <a:r>
              <a:rPr lang="en-US" sz="1600" dirty="0"/>
              <a:t>direct transition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43D53B9-9317-327F-AC1E-F284473E5BE6}"/>
              </a:ext>
            </a:extLst>
          </p:cNvPr>
          <p:cNvCxnSpPr>
            <a:cxnSpLocks/>
          </p:cNvCxnSpPr>
          <p:nvPr/>
        </p:nvCxnSpPr>
        <p:spPr>
          <a:xfrm>
            <a:off x="491359" y="987972"/>
            <a:ext cx="559675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B72AF7A-7190-CDC3-836A-94AB5F1259AF}"/>
              </a:ext>
            </a:extLst>
          </p:cNvPr>
          <p:cNvSpPr txBox="1"/>
          <p:nvPr/>
        </p:nvSpPr>
        <p:spPr>
          <a:xfrm>
            <a:off x="1217829" y="827364"/>
            <a:ext cx="1170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= direct or holdover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306F59-BDBA-9A0C-FF9D-40B94DC1340D}"/>
              </a:ext>
            </a:extLst>
          </p:cNvPr>
          <p:cNvSpPr txBox="1"/>
          <p:nvPr/>
        </p:nvSpPr>
        <p:spPr>
          <a:xfrm>
            <a:off x="4427437" y="82060"/>
            <a:ext cx="2879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Capture history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09C3489-3695-EC44-9361-18BA563EA4F8}"/>
              </a:ext>
            </a:extLst>
          </p:cNvPr>
          <p:cNvSpPr/>
          <p:nvPr/>
        </p:nvSpPr>
        <p:spPr>
          <a:xfrm>
            <a:off x="792917" y="3400167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2F185B-8F02-CF8B-6986-F64CC0EDC221}"/>
              </a:ext>
            </a:extLst>
          </p:cNvPr>
          <p:cNvSpPr/>
          <p:nvPr/>
        </p:nvSpPr>
        <p:spPr>
          <a:xfrm>
            <a:off x="792917" y="4731229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73A7D8-15C1-F6A9-67BB-35977F002AFB}"/>
              </a:ext>
            </a:extLst>
          </p:cNvPr>
          <p:cNvSpPr/>
          <p:nvPr/>
        </p:nvSpPr>
        <p:spPr>
          <a:xfrm>
            <a:off x="3047386" y="4057063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7292F5-2226-70A4-B1BD-09CBDF45EC7A}"/>
              </a:ext>
            </a:extLst>
          </p:cNvPr>
          <p:cNvSpPr/>
          <p:nvPr/>
        </p:nvSpPr>
        <p:spPr>
          <a:xfrm>
            <a:off x="4929352" y="4057063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F8EBCF1-F265-08E0-1492-CF18E4E9CC10}"/>
              </a:ext>
            </a:extLst>
          </p:cNvPr>
          <p:cNvSpPr/>
          <p:nvPr/>
        </p:nvSpPr>
        <p:spPr>
          <a:xfrm>
            <a:off x="6714010" y="4057063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0BEA185-9831-40A5-D274-16088F92D350}"/>
              </a:ext>
            </a:extLst>
          </p:cNvPr>
          <p:cNvCxnSpPr>
            <a:cxnSpLocks/>
            <a:stCxn id="2" idx="6"/>
            <a:endCxn id="5" idx="1"/>
          </p:cNvCxnSpPr>
          <p:nvPr/>
        </p:nvCxnSpPr>
        <p:spPr>
          <a:xfrm>
            <a:off x="1341557" y="3674487"/>
            <a:ext cx="1786175" cy="46292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EDC306F-1DF7-5194-C794-889C6E9B100B}"/>
              </a:ext>
            </a:extLst>
          </p:cNvPr>
          <p:cNvCxnSpPr>
            <a:cxnSpLocks/>
            <a:stCxn id="3" idx="6"/>
            <a:endCxn id="5" idx="3"/>
          </p:cNvCxnSpPr>
          <p:nvPr/>
        </p:nvCxnSpPr>
        <p:spPr>
          <a:xfrm flipV="1">
            <a:off x="1341557" y="4525357"/>
            <a:ext cx="1786175" cy="48019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D54BA22-F8D8-39DB-ACDB-3BA1ADE77FCE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3596026" y="4331383"/>
            <a:ext cx="1333326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1653FEB-EBEB-536A-8E49-E965FDD610B1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5477992" y="4331383"/>
            <a:ext cx="1236018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450509F-23C9-F8FF-EDC8-007E9C1F642F}"/>
              </a:ext>
            </a:extLst>
          </p:cNvPr>
          <p:cNvCxnSpPr>
            <a:cxnSpLocks/>
          </p:cNvCxnSpPr>
          <p:nvPr/>
        </p:nvCxnSpPr>
        <p:spPr>
          <a:xfrm>
            <a:off x="411217" y="458324"/>
            <a:ext cx="639817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AE6E14-618E-391A-35B2-B39544CBA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22625"/>
              </p:ext>
            </p:extLst>
          </p:nvPr>
        </p:nvGraphicFramePr>
        <p:xfrm>
          <a:off x="7942848" y="1142069"/>
          <a:ext cx="3975715" cy="19125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36402">
                  <a:extLst>
                    <a:ext uri="{9D8B030D-6E8A-4147-A177-3AD203B41FA5}">
                      <a16:colId xmlns:a16="http://schemas.microsoft.com/office/drawing/2014/main" val="1147253131"/>
                    </a:ext>
                  </a:extLst>
                </a:gridCol>
                <a:gridCol w="936402">
                  <a:extLst>
                    <a:ext uri="{9D8B030D-6E8A-4147-A177-3AD203B41FA5}">
                      <a16:colId xmlns:a16="http://schemas.microsoft.com/office/drawing/2014/main" val="1913627433"/>
                    </a:ext>
                  </a:extLst>
                </a:gridCol>
                <a:gridCol w="936402">
                  <a:extLst>
                    <a:ext uri="{9D8B030D-6E8A-4147-A177-3AD203B41FA5}">
                      <a16:colId xmlns:a16="http://schemas.microsoft.com/office/drawing/2014/main" val="3023732881"/>
                    </a:ext>
                  </a:extLst>
                </a:gridCol>
                <a:gridCol w="1166509">
                  <a:extLst>
                    <a:ext uri="{9D8B030D-6E8A-4147-A177-3AD203B41FA5}">
                      <a16:colId xmlns:a16="http://schemas.microsoft.com/office/drawing/2014/main" val="2100530609"/>
                    </a:ext>
                  </a:extLst>
                </a:gridCol>
              </a:tblGrid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909613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354455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332261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840584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39160"/>
                  </a:ext>
                </a:extLst>
              </a:tr>
            </a:tbl>
          </a:graphicData>
        </a:graphic>
      </p:graphicFrame>
      <p:pic>
        <p:nvPicPr>
          <p:cNvPr id="9" name="Graphic 8" descr="Fish with solid fill">
            <a:extLst>
              <a:ext uri="{FF2B5EF4-FFF2-40B4-BE49-F238E27FC236}">
                <a16:creationId xmlns:a16="http://schemas.microsoft.com/office/drawing/2014/main" id="{AF6A5144-7F6D-0309-B24B-7B15F755A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349" y="2607224"/>
            <a:ext cx="821776" cy="82177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5B12E6-12BC-137E-8561-23D1D4231169}"/>
              </a:ext>
            </a:extLst>
          </p:cNvPr>
          <p:cNvCxnSpPr>
            <a:cxnSpLocks/>
          </p:cNvCxnSpPr>
          <p:nvPr/>
        </p:nvCxnSpPr>
        <p:spPr>
          <a:xfrm>
            <a:off x="1484698" y="3183513"/>
            <a:ext cx="1302699" cy="49097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Fish with solid fill">
            <a:extLst>
              <a:ext uri="{FF2B5EF4-FFF2-40B4-BE49-F238E27FC236}">
                <a16:creationId xmlns:a16="http://schemas.microsoft.com/office/drawing/2014/main" id="{2052327F-2516-DBC3-E556-8E0DE0726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3965" y="3286539"/>
            <a:ext cx="821776" cy="82177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041AE5-4C79-2498-E3EC-793BD97E35A9}"/>
              </a:ext>
            </a:extLst>
          </p:cNvPr>
          <p:cNvSpPr txBox="1"/>
          <p:nvPr/>
        </p:nvSpPr>
        <p:spPr>
          <a:xfrm>
            <a:off x="350399" y="2181123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ID: 2</a:t>
            </a:r>
          </a:p>
          <a:p>
            <a:r>
              <a:rPr lang="en-US" dirty="0"/>
              <a:t>Released in 2012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EFD5BC-E0D6-331B-01BE-22A94A5BAF75}"/>
              </a:ext>
            </a:extLst>
          </p:cNvPr>
          <p:cNvSpPr txBox="1"/>
          <p:nvPr/>
        </p:nvSpPr>
        <p:spPr>
          <a:xfrm>
            <a:off x="2718962" y="2003185"/>
            <a:ext cx="13560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Recaptured in 2012, removed and barged to ocean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4F37B2-2CB5-9480-EC7A-F4F840FDC9F4}"/>
              </a:ext>
            </a:extLst>
          </p:cNvPr>
          <p:cNvSpPr txBox="1"/>
          <p:nvPr/>
        </p:nvSpPr>
        <p:spPr>
          <a:xfrm>
            <a:off x="4514807" y="2771432"/>
            <a:ext cx="1523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observed again</a:t>
            </a:r>
          </a:p>
        </p:txBody>
      </p:sp>
    </p:spTree>
    <p:extLst>
      <p:ext uri="{BB962C8B-B14F-4D97-AF65-F5344CB8AC3E}">
        <p14:creationId xmlns:p14="http://schemas.microsoft.com/office/powerpoint/2010/main" val="3170804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9F817-793D-9023-58A9-EFD834364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B2FD2F4-77EF-3C04-D52C-78E3A6FD9E1A}"/>
              </a:ext>
            </a:extLst>
          </p:cNvPr>
          <p:cNvSpPr/>
          <p:nvPr/>
        </p:nvSpPr>
        <p:spPr>
          <a:xfrm>
            <a:off x="273437" y="173889"/>
            <a:ext cx="2253813" cy="12382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F88E9A-DA77-AD7A-4B4A-F5AF6539ABB0}"/>
              </a:ext>
            </a:extLst>
          </p:cNvPr>
          <p:cNvSpPr txBox="1"/>
          <p:nvPr/>
        </p:nvSpPr>
        <p:spPr>
          <a:xfrm>
            <a:off x="1216082" y="249879"/>
            <a:ext cx="135601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</a:t>
            </a:r>
            <a:r>
              <a:rPr lang="en-US" sz="1600" dirty="0"/>
              <a:t>direct transition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2015897-79D9-0806-D3A7-2EBC1B34A1A3}"/>
              </a:ext>
            </a:extLst>
          </p:cNvPr>
          <p:cNvCxnSpPr>
            <a:cxnSpLocks/>
          </p:cNvCxnSpPr>
          <p:nvPr/>
        </p:nvCxnSpPr>
        <p:spPr>
          <a:xfrm>
            <a:off x="491359" y="987972"/>
            <a:ext cx="559675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9A8193C-39F3-A990-D146-AD79C14E8215}"/>
              </a:ext>
            </a:extLst>
          </p:cNvPr>
          <p:cNvSpPr txBox="1"/>
          <p:nvPr/>
        </p:nvSpPr>
        <p:spPr>
          <a:xfrm>
            <a:off x="1217829" y="827364"/>
            <a:ext cx="1170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= direct or holdover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657D7B-DE0E-022D-6AA2-174649B86948}"/>
              </a:ext>
            </a:extLst>
          </p:cNvPr>
          <p:cNvSpPr txBox="1"/>
          <p:nvPr/>
        </p:nvSpPr>
        <p:spPr>
          <a:xfrm>
            <a:off x="4427437" y="82060"/>
            <a:ext cx="2879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Capture history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63AFB81-BF73-479B-6905-6880DAF33994}"/>
              </a:ext>
            </a:extLst>
          </p:cNvPr>
          <p:cNvSpPr/>
          <p:nvPr/>
        </p:nvSpPr>
        <p:spPr>
          <a:xfrm>
            <a:off x="792917" y="3400167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5212404-F9EF-2F0C-36BA-2BF01BF0334B}"/>
              </a:ext>
            </a:extLst>
          </p:cNvPr>
          <p:cNvSpPr/>
          <p:nvPr/>
        </p:nvSpPr>
        <p:spPr>
          <a:xfrm>
            <a:off x="792917" y="4731229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28FAF9F-D65B-42CA-9C92-22E6192AA275}"/>
              </a:ext>
            </a:extLst>
          </p:cNvPr>
          <p:cNvSpPr/>
          <p:nvPr/>
        </p:nvSpPr>
        <p:spPr>
          <a:xfrm>
            <a:off x="3047386" y="4057063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729C8D2-844A-2195-52FB-8081C8688D5C}"/>
              </a:ext>
            </a:extLst>
          </p:cNvPr>
          <p:cNvSpPr/>
          <p:nvPr/>
        </p:nvSpPr>
        <p:spPr>
          <a:xfrm>
            <a:off x="4929352" y="4057063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FD7A2C-BA40-26B2-5610-AEAFB68D70F5}"/>
              </a:ext>
            </a:extLst>
          </p:cNvPr>
          <p:cNvSpPr/>
          <p:nvPr/>
        </p:nvSpPr>
        <p:spPr>
          <a:xfrm>
            <a:off x="6714010" y="4057063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DE66DD-A897-45BC-7C4F-B0EE69FB7AF4}"/>
              </a:ext>
            </a:extLst>
          </p:cNvPr>
          <p:cNvCxnSpPr>
            <a:cxnSpLocks/>
            <a:stCxn id="2" idx="6"/>
            <a:endCxn id="5" idx="1"/>
          </p:cNvCxnSpPr>
          <p:nvPr/>
        </p:nvCxnSpPr>
        <p:spPr>
          <a:xfrm>
            <a:off x="1341557" y="3674487"/>
            <a:ext cx="1786175" cy="46292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7AE8128-E132-4431-62C8-DC7AC9AA6F31}"/>
              </a:ext>
            </a:extLst>
          </p:cNvPr>
          <p:cNvCxnSpPr>
            <a:cxnSpLocks/>
            <a:stCxn id="3" idx="6"/>
            <a:endCxn id="5" idx="3"/>
          </p:cNvCxnSpPr>
          <p:nvPr/>
        </p:nvCxnSpPr>
        <p:spPr>
          <a:xfrm flipV="1">
            <a:off x="1341557" y="4525357"/>
            <a:ext cx="1786175" cy="48019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9AD61E5-B9FB-889D-62F7-1F370B6B54A9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3596026" y="4331383"/>
            <a:ext cx="1333326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C1DBCC7-BBE4-59BD-3A39-B544E55A3BB5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5477992" y="4331383"/>
            <a:ext cx="1236018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44062FA-836B-2E1A-90EB-9EE956B7C3CC}"/>
              </a:ext>
            </a:extLst>
          </p:cNvPr>
          <p:cNvCxnSpPr>
            <a:cxnSpLocks/>
          </p:cNvCxnSpPr>
          <p:nvPr/>
        </p:nvCxnSpPr>
        <p:spPr>
          <a:xfrm>
            <a:off x="411217" y="458324"/>
            <a:ext cx="639817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AA602C-F135-D502-B050-9CF757607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952765"/>
              </p:ext>
            </p:extLst>
          </p:nvPr>
        </p:nvGraphicFramePr>
        <p:xfrm>
          <a:off x="7942848" y="1142069"/>
          <a:ext cx="3975715" cy="19125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36402">
                  <a:extLst>
                    <a:ext uri="{9D8B030D-6E8A-4147-A177-3AD203B41FA5}">
                      <a16:colId xmlns:a16="http://schemas.microsoft.com/office/drawing/2014/main" val="1147253131"/>
                    </a:ext>
                  </a:extLst>
                </a:gridCol>
                <a:gridCol w="936402">
                  <a:extLst>
                    <a:ext uri="{9D8B030D-6E8A-4147-A177-3AD203B41FA5}">
                      <a16:colId xmlns:a16="http://schemas.microsoft.com/office/drawing/2014/main" val="1913627433"/>
                    </a:ext>
                  </a:extLst>
                </a:gridCol>
                <a:gridCol w="936402">
                  <a:extLst>
                    <a:ext uri="{9D8B030D-6E8A-4147-A177-3AD203B41FA5}">
                      <a16:colId xmlns:a16="http://schemas.microsoft.com/office/drawing/2014/main" val="3023732881"/>
                    </a:ext>
                  </a:extLst>
                </a:gridCol>
                <a:gridCol w="1166509">
                  <a:extLst>
                    <a:ext uri="{9D8B030D-6E8A-4147-A177-3AD203B41FA5}">
                      <a16:colId xmlns:a16="http://schemas.microsoft.com/office/drawing/2014/main" val="2100530609"/>
                    </a:ext>
                  </a:extLst>
                </a:gridCol>
              </a:tblGrid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909613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354455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332261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840584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39160"/>
                  </a:ext>
                </a:extLst>
              </a:tr>
            </a:tbl>
          </a:graphicData>
        </a:graphic>
      </p:graphicFrame>
      <p:pic>
        <p:nvPicPr>
          <p:cNvPr id="9" name="Graphic 8" descr="Fish with solid fill">
            <a:extLst>
              <a:ext uri="{FF2B5EF4-FFF2-40B4-BE49-F238E27FC236}">
                <a16:creationId xmlns:a16="http://schemas.microsoft.com/office/drawing/2014/main" id="{FDD6B52C-93B0-427E-39FA-E5457BD22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349" y="2607224"/>
            <a:ext cx="821776" cy="82177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B306BB-AF5E-4BC7-8BBD-0DF5BFB31B62}"/>
              </a:ext>
            </a:extLst>
          </p:cNvPr>
          <p:cNvCxnSpPr>
            <a:cxnSpLocks/>
          </p:cNvCxnSpPr>
          <p:nvPr/>
        </p:nvCxnSpPr>
        <p:spPr>
          <a:xfrm>
            <a:off x="1484698" y="3183513"/>
            <a:ext cx="1302699" cy="49097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Fish with solid fill">
            <a:extLst>
              <a:ext uri="{FF2B5EF4-FFF2-40B4-BE49-F238E27FC236}">
                <a16:creationId xmlns:a16="http://schemas.microsoft.com/office/drawing/2014/main" id="{10CDD07A-19FD-50EF-16C3-DE90F5105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2784" y="3263599"/>
            <a:ext cx="821776" cy="82177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8A7F95-DE9C-5963-0940-0ED7904735A3}"/>
              </a:ext>
            </a:extLst>
          </p:cNvPr>
          <p:cNvCxnSpPr>
            <a:cxnSpLocks/>
          </p:cNvCxnSpPr>
          <p:nvPr/>
        </p:nvCxnSpPr>
        <p:spPr>
          <a:xfrm flipV="1">
            <a:off x="3812940" y="3683592"/>
            <a:ext cx="897200" cy="13835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FE0CC23-6544-6791-6814-49ACAAE5D68D}"/>
              </a:ext>
            </a:extLst>
          </p:cNvPr>
          <p:cNvSpPr txBox="1"/>
          <p:nvPr/>
        </p:nvSpPr>
        <p:spPr>
          <a:xfrm>
            <a:off x="350399" y="2181123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ID: 3</a:t>
            </a:r>
          </a:p>
          <a:p>
            <a:r>
              <a:rPr lang="en-US" dirty="0"/>
              <a:t>Released in 2010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5E0FB8-0E2A-44B9-C9C5-4AD8CAE7A766}"/>
              </a:ext>
            </a:extLst>
          </p:cNvPr>
          <p:cNvSpPr txBox="1"/>
          <p:nvPr/>
        </p:nvSpPr>
        <p:spPr>
          <a:xfrm>
            <a:off x="2793970" y="3334051"/>
            <a:ext cx="1356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observed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C65E65-2161-BE0C-26B2-588419B853F2}"/>
              </a:ext>
            </a:extLst>
          </p:cNvPr>
          <p:cNvSpPr txBox="1"/>
          <p:nvPr/>
        </p:nvSpPr>
        <p:spPr>
          <a:xfrm>
            <a:off x="4626126" y="2770589"/>
            <a:ext cx="1356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Recaptured in 2011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D37DCD-ED1E-FFFC-1DB8-0C54F5FEFED4}"/>
              </a:ext>
            </a:extLst>
          </p:cNvPr>
          <p:cNvSpPr txBox="1"/>
          <p:nvPr/>
        </p:nvSpPr>
        <p:spPr>
          <a:xfrm>
            <a:off x="6226766" y="2770588"/>
            <a:ext cx="1523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observed again</a:t>
            </a:r>
          </a:p>
        </p:txBody>
      </p:sp>
    </p:spTree>
    <p:extLst>
      <p:ext uri="{BB962C8B-B14F-4D97-AF65-F5344CB8AC3E}">
        <p14:creationId xmlns:p14="http://schemas.microsoft.com/office/powerpoint/2010/main" val="2429408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6C999-4989-303F-B5FE-42F4CC9E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BC7C04A-82F5-57A5-447D-A73FC3A2C18A}"/>
              </a:ext>
            </a:extLst>
          </p:cNvPr>
          <p:cNvSpPr/>
          <p:nvPr/>
        </p:nvSpPr>
        <p:spPr>
          <a:xfrm>
            <a:off x="273437" y="173889"/>
            <a:ext cx="2253813" cy="123825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4A99BA-77F2-F230-33E9-A637CF239011}"/>
              </a:ext>
            </a:extLst>
          </p:cNvPr>
          <p:cNvSpPr txBox="1"/>
          <p:nvPr/>
        </p:nvSpPr>
        <p:spPr>
          <a:xfrm>
            <a:off x="1216082" y="249879"/>
            <a:ext cx="135601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</a:t>
            </a:r>
            <a:r>
              <a:rPr lang="en-US" sz="1600" dirty="0"/>
              <a:t>direct transition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A9B600-C1E6-576C-24F7-44258FBD6CA0}"/>
              </a:ext>
            </a:extLst>
          </p:cNvPr>
          <p:cNvCxnSpPr>
            <a:cxnSpLocks/>
          </p:cNvCxnSpPr>
          <p:nvPr/>
        </p:nvCxnSpPr>
        <p:spPr>
          <a:xfrm>
            <a:off x="491359" y="987972"/>
            <a:ext cx="559675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406215B-C470-0313-3E64-2343A9807C9A}"/>
              </a:ext>
            </a:extLst>
          </p:cNvPr>
          <p:cNvSpPr txBox="1"/>
          <p:nvPr/>
        </p:nvSpPr>
        <p:spPr>
          <a:xfrm>
            <a:off x="1217829" y="827364"/>
            <a:ext cx="1170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= direct or holdover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6FCB16-244F-E7DF-267C-AB1C36492031}"/>
              </a:ext>
            </a:extLst>
          </p:cNvPr>
          <p:cNvSpPr txBox="1"/>
          <p:nvPr/>
        </p:nvSpPr>
        <p:spPr>
          <a:xfrm>
            <a:off x="4427437" y="82060"/>
            <a:ext cx="2879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Site configuration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B949ED5-962F-68BA-88F0-CF20D0EEA085}"/>
              </a:ext>
            </a:extLst>
          </p:cNvPr>
          <p:cNvSpPr/>
          <p:nvPr/>
        </p:nvSpPr>
        <p:spPr>
          <a:xfrm>
            <a:off x="2684774" y="1823618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E417212-AE78-57DB-48D5-C9C0B0B24F41}"/>
              </a:ext>
            </a:extLst>
          </p:cNvPr>
          <p:cNvSpPr/>
          <p:nvPr/>
        </p:nvSpPr>
        <p:spPr>
          <a:xfrm>
            <a:off x="2684774" y="3154680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AEC9A1-9409-CB2D-439F-1D2F17BC8995}"/>
              </a:ext>
            </a:extLst>
          </p:cNvPr>
          <p:cNvSpPr/>
          <p:nvPr/>
        </p:nvSpPr>
        <p:spPr>
          <a:xfrm>
            <a:off x="4939243" y="2480514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116CA1-5E61-C259-742A-3386FEF3217B}"/>
              </a:ext>
            </a:extLst>
          </p:cNvPr>
          <p:cNvSpPr/>
          <p:nvPr/>
        </p:nvSpPr>
        <p:spPr>
          <a:xfrm>
            <a:off x="6821209" y="2480514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BF8213-C29A-B2B7-0DC2-BDA015F85D55}"/>
              </a:ext>
            </a:extLst>
          </p:cNvPr>
          <p:cNvSpPr/>
          <p:nvPr/>
        </p:nvSpPr>
        <p:spPr>
          <a:xfrm>
            <a:off x="8605867" y="2480514"/>
            <a:ext cx="548640" cy="548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91E16B-9479-E854-367E-2A82C6B22536}"/>
              </a:ext>
            </a:extLst>
          </p:cNvPr>
          <p:cNvCxnSpPr>
            <a:cxnSpLocks/>
            <a:stCxn id="2" idx="6"/>
            <a:endCxn id="5" idx="1"/>
          </p:cNvCxnSpPr>
          <p:nvPr/>
        </p:nvCxnSpPr>
        <p:spPr>
          <a:xfrm>
            <a:off x="3233414" y="2097938"/>
            <a:ext cx="1786175" cy="46292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D7733D7-53A0-6E8C-E4F3-F3720EC64285}"/>
              </a:ext>
            </a:extLst>
          </p:cNvPr>
          <p:cNvCxnSpPr>
            <a:cxnSpLocks/>
            <a:stCxn id="3" idx="6"/>
            <a:endCxn id="5" idx="3"/>
          </p:cNvCxnSpPr>
          <p:nvPr/>
        </p:nvCxnSpPr>
        <p:spPr>
          <a:xfrm flipV="1">
            <a:off x="3233414" y="2948808"/>
            <a:ext cx="1786175" cy="480192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C3C096-DB9C-A58C-82F5-AA801A077B5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5487883" y="2754834"/>
            <a:ext cx="1333326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798007B-7DA9-0726-D8B4-3A102D4331CD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7369849" y="2754834"/>
            <a:ext cx="1236018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8E324AA-984D-C2B3-4DEB-41F0AEA5F959}"/>
              </a:ext>
            </a:extLst>
          </p:cNvPr>
          <p:cNvSpPr txBox="1"/>
          <p:nvPr/>
        </p:nvSpPr>
        <p:spPr>
          <a:xfrm>
            <a:off x="2716924" y="4415129"/>
            <a:ext cx="67581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simplebranch_s4t_config(</a:t>
            </a:r>
            <a:r>
              <a:rPr lang="en-US" sz="1800" dirty="0" err="1">
                <a:solidFill>
                  <a:schemeClr val="tx1"/>
                </a:solidFill>
              </a:rPr>
              <a:t>site_names</a:t>
            </a:r>
            <a:r>
              <a:rPr lang="en-US" sz="1800" dirty="0">
                <a:solidFill>
                  <a:schemeClr val="tx1"/>
                </a:solidFill>
              </a:rPr>
              <a:t> = c(“A”, “B”, “C”, “D”, ”E”),</a:t>
            </a:r>
          </a:p>
          <a:p>
            <a:pPr algn="ctr"/>
            <a:r>
              <a:rPr lang="en-US" dirty="0" err="1"/>
              <a:t>branch_sites</a:t>
            </a:r>
            <a:r>
              <a:rPr lang="en-US" dirty="0"/>
              <a:t> = c(“A”, “B”</a:t>
            </a:r>
            <a:r>
              <a:rPr lang="en-US" sz="1800" dirty="0">
                <a:solidFill>
                  <a:schemeClr val="tx1"/>
                </a:solidFill>
              </a:rPr>
              <a:t>),</a:t>
            </a:r>
          </a:p>
          <a:p>
            <a:pPr algn="ctr"/>
            <a:r>
              <a:rPr lang="en-US" dirty="0" err="1"/>
              <a:t>holdover_site</a:t>
            </a:r>
            <a:r>
              <a:rPr lang="en-US" dirty="0"/>
              <a:t> = c(“A”, ”B”),</a:t>
            </a:r>
          </a:p>
          <a:p>
            <a:pPr algn="ctr"/>
            <a:r>
              <a:rPr lang="en-US" sz="1800" dirty="0" err="1">
                <a:solidFill>
                  <a:schemeClr val="tx1"/>
                </a:solidFill>
              </a:rPr>
              <a:t>min_a</a:t>
            </a:r>
            <a:r>
              <a:rPr lang="en-US" sz="1800" dirty="0">
                <a:solidFill>
                  <a:schemeClr val="tx1"/>
                </a:solidFill>
              </a:rPr>
              <a:t> = c(“A” = 0, “B” = 1, “C” = 1, “D” = 1, “E” = 1),</a:t>
            </a:r>
          </a:p>
          <a:p>
            <a:pPr algn="ctr"/>
            <a:r>
              <a:rPr lang="en-US" dirty="0" err="1"/>
              <a:t>max_a</a:t>
            </a:r>
            <a:r>
              <a:rPr lang="en-US" dirty="0"/>
              <a:t> = c(“A” = 3, “B” = 4, “C” = 4, “D” = 4, “E” = 4))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A03635-0FD5-600B-DEB4-56D43725D9F6}"/>
              </a:ext>
            </a:extLst>
          </p:cNvPr>
          <p:cNvSpPr txBox="1"/>
          <p:nvPr/>
        </p:nvSpPr>
        <p:spPr>
          <a:xfrm>
            <a:off x="2303074" y="2385502"/>
            <a:ext cx="1669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 range: 0-3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E7D78A-E017-4DE8-D040-73A23139017A}"/>
              </a:ext>
            </a:extLst>
          </p:cNvPr>
          <p:cNvSpPr txBox="1"/>
          <p:nvPr/>
        </p:nvSpPr>
        <p:spPr>
          <a:xfrm>
            <a:off x="2303074" y="3724526"/>
            <a:ext cx="1669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 range: 1-4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88BB66-D946-D9B7-F1BF-118A9916BC83}"/>
              </a:ext>
            </a:extLst>
          </p:cNvPr>
          <p:cNvSpPr txBox="1"/>
          <p:nvPr/>
        </p:nvSpPr>
        <p:spPr>
          <a:xfrm>
            <a:off x="4400159" y="3014986"/>
            <a:ext cx="1669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 range: 1-4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34BA35-6B40-B498-012D-DDBCD451C8C5}"/>
              </a:ext>
            </a:extLst>
          </p:cNvPr>
          <p:cNvSpPr txBox="1"/>
          <p:nvPr/>
        </p:nvSpPr>
        <p:spPr>
          <a:xfrm>
            <a:off x="6201779" y="3004238"/>
            <a:ext cx="1669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 range: 1-4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B3ED4C-78FD-CA40-8B15-8E3ECC12E883}"/>
              </a:ext>
            </a:extLst>
          </p:cNvPr>
          <p:cNvSpPr txBox="1"/>
          <p:nvPr/>
        </p:nvSpPr>
        <p:spPr>
          <a:xfrm>
            <a:off x="7987857" y="3004238"/>
            <a:ext cx="1669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 range: 1-4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10092E0-A632-6188-A157-95445BA6FEF5}"/>
              </a:ext>
            </a:extLst>
          </p:cNvPr>
          <p:cNvCxnSpPr>
            <a:cxnSpLocks/>
          </p:cNvCxnSpPr>
          <p:nvPr/>
        </p:nvCxnSpPr>
        <p:spPr>
          <a:xfrm>
            <a:off x="411217" y="458324"/>
            <a:ext cx="639817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193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766D5-39E0-55E9-02CF-4A6883EE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124" descr="A diagram of a site&#10;&#10;AI-generated content may be incorrect.">
            <a:extLst>
              <a:ext uri="{FF2B5EF4-FFF2-40B4-BE49-F238E27FC236}">
                <a16:creationId xmlns:a16="http://schemas.microsoft.com/office/drawing/2014/main" id="{8FAECB5E-7E80-528E-D494-822D560C6B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346"/>
          <a:stretch>
            <a:fillRect/>
          </a:stretch>
        </p:blipFill>
        <p:spPr>
          <a:xfrm>
            <a:off x="399574" y="224692"/>
            <a:ext cx="6217386" cy="6418383"/>
          </a:xfrm>
          <a:prstGeom prst="rect">
            <a:avLst/>
          </a:prstGeom>
        </p:spPr>
      </p:pic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FD3129D6-38D2-E1D5-65EA-A15D58C98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393" y="1802867"/>
            <a:ext cx="2897863" cy="32531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AC21ED-B5E9-0588-8A8D-7051C0B9DA78}"/>
              </a:ext>
            </a:extLst>
          </p:cNvPr>
          <p:cNvSpPr txBox="1"/>
          <p:nvPr/>
        </p:nvSpPr>
        <p:spPr>
          <a:xfrm>
            <a:off x="7243947" y="224692"/>
            <a:ext cx="4239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Parameterization of transitions</a:t>
            </a:r>
          </a:p>
        </p:txBody>
      </p:sp>
    </p:spTree>
    <p:extLst>
      <p:ext uri="{BB962C8B-B14F-4D97-AF65-F5344CB8AC3E}">
        <p14:creationId xmlns:p14="http://schemas.microsoft.com/office/powerpoint/2010/main" val="1741217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62EC8-1050-179D-BE78-FC00C5B5F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8A9444F7-D92A-8235-729B-22016D011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14" y="390769"/>
            <a:ext cx="6160031" cy="5744308"/>
          </a:xfrm>
          <a:prstGeom prst="rect">
            <a:avLst/>
          </a:prstGeom>
        </p:spPr>
      </p:pic>
      <p:pic>
        <p:nvPicPr>
          <p:cNvPr id="131" name="Picture 130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A462E2F9-83D2-7401-13A8-41D8C78FF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185" y="1387231"/>
            <a:ext cx="2897863" cy="32531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085606-832A-B1B9-97AB-4541365A4891}"/>
              </a:ext>
            </a:extLst>
          </p:cNvPr>
          <p:cNvSpPr txBox="1"/>
          <p:nvPr/>
        </p:nvSpPr>
        <p:spPr>
          <a:xfrm>
            <a:off x="7243947" y="224692"/>
            <a:ext cx="4239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Parameterization of transitions</a:t>
            </a:r>
          </a:p>
        </p:txBody>
      </p:sp>
    </p:spTree>
    <p:extLst>
      <p:ext uri="{BB962C8B-B14F-4D97-AF65-F5344CB8AC3E}">
        <p14:creationId xmlns:p14="http://schemas.microsoft.com/office/powerpoint/2010/main" val="2278551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21448</TotalTime>
  <Words>990</Words>
  <Application>Microsoft Office PowerPoint</Application>
  <PresentationFormat>Widescreen</PresentationFormat>
  <Paragraphs>282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Office Theme</vt:lpstr>
      <vt:lpstr>Office Theme</vt:lpstr>
      <vt:lpstr>Age- and time-specific space-for-time mark recapture models using space4time</vt:lpstr>
      <vt:lpstr>Overview</vt:lpstr>
      <vt:lpstr>Cormack-Jolly-Seber models</vt:lpstr>
      <vt:lpstr>Cormack-Jolly-Seber model</vt:lpstr>
      <vt:lpstr>Space-for-time</vt:lpstr>
      <vt:lpstr>The space4time model</vt:lpstr>
      <vt:lpstr>Objectives</vt:lpstr>
      <vt:lpstr>PowerPoint Presentation</vt:lpstr>
      <vt:lpstr>Model details</vt:lpstr>
      <vt:lpstr>PowerPoint Presentation</vt:lpstr>
      <vt:lpstr>PowerPoint Presentation</vt:lpstr>
      <vt:lpstr>What do you need</vt:lpstr>
      <vt:lpstr>Using space4time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Vosbigian, Ryan (rvosbigian@uidaho.edu)</dc:creator>
  <cp:lastModifiedBy>Vosbigian, Ryan</cp:lastModifiedBy>
  <cp:revision>113</cp:revision>
  <dcterms:created xsi:type="dcterms:W3CDTF">2024-12-02T18:43:28Z</dcterms:created>
  <dcterms:modified xsi:type="dcterms:W3CDTF">2026-03-19T20:20:21Z</dcterms:modified>
</cp:coreProperties>
</file>